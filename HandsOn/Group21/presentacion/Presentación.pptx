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78" r:id="rId6"/>
    <p:sldId id="281" r:id="rId7"/>
    <p:sldId id="282" r:id="rId8"/>
    <p:sldId id="279" r:id="rId9"/>
    <p:sldId id="284" r:id="rId10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9F9EE-28DA-8F2C-4328-C05160A038EE}" v="469" dt="2025-11-16T17:43:41.616"/>
    <p1510:client id="{780ED28B-EE00-4360-9990-B9C621D2291D}" v="357" dt="2025-11-17T11:14:26.840"/>
    <p1510:client id="{F8D3F5BA-34F4-A6C5-3B95-D4922C802C6F}" v="5" dt="2025-11-16T16:41:28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B0FAE97-1210-4E36-A60A-8BA798A12A99}" type="datetime1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3D3D879-06F7-4BB3-9FD8-DADB216A1AB3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1" name="Elips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14CEBD4D-085C-498A-87ED-B94FC4CBCFC7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8" name="Conector rec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4DC918-9477-44C9-87CA-58BC8D7EC64E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Elipse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AA7CFC-FF55-48D5-B9D9-FA93FB0A1F63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8" name="Conector rec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9DBD11-34E4-448E-809B-329C5E8C1419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DB1031-BFAF-464E-A517-D151D571897F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BED521-1CC1-404B-8AD1-BBD24E269425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3E9304-DC69-42FE-B771-884D748CD27D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 hasCustomPrompt="1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es-ES" noProof="0"/>
              <a:t>Haga clic para modificar el estilo del título del patrón</a:t>
            </a: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93D1A9-6AEF-4FF0-93A8-BB445C605128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AA2184-F169-47A9-9381-0045417AD705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8" name="Conector rec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3C0138-BF83-46A1-914E-F1E2A8306695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0568A9-B9DF-49AA-9F31-6F462455E52A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s-ES" noProof="0" smtClean="0"/>
              <a:t>‹#›</a:t>
            </a:fld>
            <a:endParaRPr lang="es-ES" noProof="0"/>
          </a:p>
        </p:txBody>
      </p:sp>
      <p:cxnSp>
        <p:nvCxnSpPr>
          <p:cNvPr id="7" name="Conector rec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EC354E2A-D5C7-4832-8F7D-7F0C53F06735}" type="datetime1">
              <a:rPr lang="es-ES" noProof="0" smtClean="0"/>
              <a:t>17/11/2025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‹#›</a:t>
            </a:fld>
            <a:endParaRPr lang="es-ES" noProof="0"/>
          </a:p>
        </p:txBody>
      </p:sp>
      <p:cxnSp>
        <p:nvCxnSpPr>
          <p:cNvPr id="7" name="Conector rec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/>
          <a:p>
            <a:r>
              <a:rPr lang="es-ES"/>
              <a:t>Road safety Madrid </a:t>
            </a:r>
          </a:p>
        </p:txBody>
      </p:sp>
      <p:pic>
        <p:nvPicPr>
          <p:cNvPr id="25" name="Picture 24" descr="Luz verde en un semáforo">
            <a:extLst>
              <a:ext uri="{FF2B5EF4-FFF2-40B4-BE49-F238E27FC236}">
                <a16:creationId xmlns:a16="http://schemas.microsoft.com/office/drawing/2014/main" id="{8AF345D9-5752-B1FB-C02A-3908CD3150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73" r="-1" b="10733"/>
          <a:stretch>
            <a:fillRect/>
          </a:stretch>
        </p:blipFill>
        <p:spPr>
          <a:xfrm>
            <a:off x="20" y="-1"/>
            <a:ext cx="12188932" cy="4572000"/>
          </a:xfrm>
          <a:prstGeom prst="rect">
            <a:avLst/>
          </a:prstGeom>
          <a:noFill/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rtlCol="0" anchor="ctr">
            <a:normAutofit/>
          </a:bodyPr>
          <a:lstStyle/>
          <a:p>
            <a:pPr rtl="0"/>
            <a:r>
              <a:rPr lang="es-ES"/>
              <a:t>Grupo 21</a:t>
            </a:r>
          </a:p>
        </p:txBody>
      </p: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0C2F4-BEF3-76C6-D8BC-E3B8DACBA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Datasets</a:t>
            </a:r>
            <a:r>
              <a:rPr lang="es-ES"/>
              <a:t> escogidos: ¿Por qué?</a:t>
            </a:r>
          </a:p>
        </p:txBody>
      </p:sp>
      <p:pic>
        <p:nvPicPr>
          <p:cNvPr id="6" name="Marcador de contenido 5" descr="Reflejo en el espejo retrovisor de un carro&#10;&#10;El contenido generado por IA puede ser incorrecto.">
            <a:extLst>
              <a:ext uri="{FF2B5EF4-FFF2-40B4-BE49-F238E27FC236}">
                <a16:creationId xmlns:a16="http://schemas.microsoft.com/office/drawing/2014/main" id="{4422A239-7E1B-A2E5-E9D7-D3A9D4D2E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646" y="1993181"/>
            <a:ext cx="4129296" cy="2875171"/>
          </a:xfrm>
          <a:prstGeom prst="rect">
            <a:avLst/>
          </a:prstGeom>
        </p:spPr>
      </p:pic>
      <p:pic>
        <p:nvPicPr>
          <p:cNvPr id="4" name="Imagen 3" descr="Una torre con un reloj en la calle&#10;&#10;El contenido generado por IA puede ser incorrecto.">
            <a:extLst>
              <a:ext uri="{FF2B5EF4-FFF2-40B4-BE49-F238E27FC236}">
                <a16:creationId xmlns:a16="http://schemas.microsoft.com/office/drawing/2014/main" id="{4816B3A6-BFC8-8982-4A8E-38DB8A787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7" y="1987825"/>
            <a:ext cx="4573049" cy="2882350"/>
          </a:xfrm>
          <a:prstGeom prst="rect">
            <a:avLst/>
          </a:prstGeom>
        </p:spPr>
      </p:pic>
      <p:pic>
        <p:nvPicPr>
          <p:cNvPr id="5" name="Imagen 4" descr="Imagen que contiene exterior, edificio, refrigerador, caja&#10;&#10;El contenido generado por IA puede ser incorrecto.">
            <a:extLst>
              <a:ext uri="{FF2B5EF4-FFF2-40B4-BE49-F238E27FC236}">
                <a16:creationId xmlns:a16="http://schemas.microsoft.com/office/drawing/2014/main" id="{B1C0E12A-B956-734F-5DF9-13B444666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450" y="1989067"/>
            <a:ext cx="1945448" cy="287986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147C2E4-25CF-E3AB-07F1-2078E3FCF4A1}"/>
              </a:ext>
            </a:extLst>
          </p:cNvPr>
          <p:cNvSpPr txBox="1"/>
          <p:nvPr/>
        </p:nvSpPr>
        <p:spPr>
          <a:xfrm>
            <a:off x="797718" y="5262562"/>
            <a:ext cx="1083468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s-ES" err="1"/>
              <a:t>Datasets</a:t>
            </a:r>
            <a:r>
              <a:rPr lang="es-ES"/>
              <a:t> públicos, relevantes y complementarios</a:t>
            </a:r>
          </a:p>
          <a:p>
            <a:pPr marL="285750" indent="-285750">
              <a:buFont typeface="Calibri"/>
              <a:buChar char="-"/>
            </a:pPr>
            <a:r>
              <a:rPr lang="es-ES">
                <a:ea typeface="+mn-lt"/>
                <a:cs typeface="+mn-lt"/>
              </a:rPr>
              <a:t>Por separado aportan información parcial, pero juntos permiten establecer relaciones</a:t>
            </a:r>
          </a:p>
          <a:p>
            <a:pPr marL="285750" indent="-285750">
              <a:buFont typeface="Calibri"/>
              <a:buChar char="-"/>
            </a:pPr>
            <a:r>
              <a:rPr lang="es-ES"/>
              <a:t>Permite </a:t>
            </a:r>
            <a:r>
              <a:rPr lang="es-ES">
                <a:ea typeface="+mn-lt"/>
                <a:cs typeface="+mn-lt"/>
              </a:rPr>
              <a:t>entender patrones de riesgo, comparar distritos y contextualizar accidentes con información externa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4159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300942-79F6-4F0F-238C-2EBBBB55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VALOR AÑADIDO DE ROADSAFETY MADRID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EDE06B-E0BB-6598-C52F-7D92B32FA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Calibri" panose="020B0602020104020603" pitchFamily="34" charset="0"/>
              <a:buChar char="-"/>
            </a:pPr>
            <a:r>
              <a:rPr lang="es-ES"/>
              <a:t>Consultas de datos más fáciles</a:t>
            </a:r>
          </a:p>
          <a:p>
            <a:pPr>
              <a:buFont typeface="Calibri" panose="020B0602020104020603" pitchFamily="34" charset="0"/>
              <a:buChar char="-"/>
            </a:pPr>
            <a:r>
              <a:rPr lang="es-ES"/>
              <a:t>Normalización de conceptos como </a:t>
            </a:r>
            <a:r>
              <a:rPr lang="es-ES" err="1"/>
              <a:t>Accident</a:t>
            </a:r>
            <a:r>
              <a:rPr lang="es-ES"/>
              <a:t>, </a:t>
            </a:r>
            <a:r>
              <a:rPr lang="es-ES" err="1"/>
              <a:t>District</a:t>
            </a:r>
            <a:r>
              <a:rPr lang="es-ES"/>
              <a:t> o Radar en la ontología</a:t>
            </a:r>
          </a:p>
          <a:p>
            <a:pPr>
              <a:buFont typeface="Calibri" panose="020B0602020104020603" pitchFamily="34" charset="0"/>
              <a:buChar char="-"/>
            </a:pPr>
            <a:r>
              <a:rPr lang="es-ES">
                <a:ea typeface="+mn-lt"/>
                <a:cs typeface="+mn-lt"/>
              </a:rPr>
              <a:t>Mayor contexto gracias a enlaces externos con </a:t>
            </a:r>
            <a:r>
              <a:rPr lang="es-ES" err="1">
                <a:ea typeface="+mn-lt"/>
                <a:cs typeface="+mn-lt"/>
              </a:rPr>
              <a:t>owl:sameAs</a:t>
            </a:r>
            <a:r>
              <a:rPr lang="es-ES">
                <a:ea typeface="+mn-lt"/>
                <a:cs typeface="+mn-lt"/>
              </a:rPr>
              <a:t> a </a:t>
            </a:r>
            <a:r>
              <a:rPr lang="es-ES" err="1">
                <a:ea typeface="+mn-lt"/>
                <a:cs typeface="+mn-lt"/>
              </a:rPr>
              <a:t>Wikidata</a:t>
            </a:r>
            <a:endParaRPr lang="es-ES">
              <a:ea typeface="+mn-lt"/>
              <a:cs typeface="+mn-lt"/>
            </a:endParaRPr>
          </a:p>
          <a:p>
            <a:pPr>
              <a:buFont typeface="Calibri" panose="020B0602020104020603" pitchFamily="34" charset="0"/>
              <a:buChar char="-"/>
            </a:pPr>
            <a:r>
              <a:rPr lang="es-ES"/>
              <a:t>Visualización de resultados de consultas mediante web</a:t>
            </a:r>
          </a:p>
        </p:txBody>
      </p:sp>
    </p:spTree>
    <p:extLst>
      <p:ext uri="{BB962C8B-B14F-4D97-AF65-F5344CB8AC3E}">
        <p14:creationId xmlns:p14="http://schemas.microsoft.com/office/powerpoint/2010/main" val="164658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DAE56F-5A0A-FD90-890E-8707521A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/>
              <a:t>Obtenemos respuestas para varias preguntas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ABC7B8-8DF2-0349-7EE4-A894038AE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45720" tIns="45720" rIns="45720" bIns="45720" rtlCol="0" anchor="t">
            <a:normAutofit/>
          </a:bodyPr>
          <a:lstStyle/>
          <a:p>
            <a:pPr>
              <a:buFont typeface="Calibri" panose="020B0602020104020603" pitchFamily="34" charset="0"/>
              <a:buChar char="-"/>
            </a:pPr>
            <a:r>
              <a:rPr lang="es-ES" dirty="0">
                <a:ea typeface="+mn-lt"/>
                <a:cs typeface="+mn-lt"/>
              </a:rPr>
              <a:t>¿Qué distritos presentan mayor número de accidentes totales y cómo se comparan entre sí?</a:t>
            </a:r>
          </a:p>
          <a:p>
            <a:pPr>
              <a:buFont typeface="Calibri" panose="020B0602020104020603" pitchFamily="34" charset="0"/>
              <a:buChar char="-"/>
            </a:pPr>
            <a:r>
              <a:rPr lang="es-ES" dirty="0">
                <a:ea typeface="+mn-lt"/>
                <a:cs typeface="+mn-lt"/>
              </a:rPr>
              <a:t>¿Cómo son las personas implicadas en los accidentes en términos de edad, gravedad de las lesiones, tipo de vehículo y consumo de alcohol/drogas?</a:t>
            </a:r>
          </a:p>
          <a:p>
            <a:pPr>
              <a:buFont typeface="Calibri" panose="020B0602020104020603" pitchFamily="34" charset="0"/>
              <a:buChar char="-"/>
            </a:pPr>
            <a:r>
              <a:rPr lang="es-ES" dirty="0">
                <a:ea typeface="+mn-lt"/>
                <a:cs typeface="+mn-lt"/>
              </a:rPr>
              <a:t>¿Qué accidentes implican a un mayor número de personas y cómo se distribuyen esos accidentes?</a:t>
            </a:r>
          </a:p>
          <a:p>
            <a:pPr>
              <a:buFont typeface="Calibri" panose="020B0602020104020603" pitchFamily="34" charset="0"/>
              <a:buChar char="-"/>
            </a:pPr>
            <a:r>
              <a:rPr lang="es-ES" dirty="0">
                <a:ea typeface="+mn-lt"/>
                <a:cs typeface="+mn-lt"/>
              </a:rPr>
              <a:t>¿Qué carreteras tienen radares instalados y donde están localizados?</a:t>
            </a:r>
          </a:p>
          <a:p>
            <a:pPr>
              <a:buFont typeface="Calibri" panose="020B0602020104020603" pitchFamily="34" charset="0"/>
              <a:buChar char="-"/>
            </a:pPr>
            <a:r>
              <a:rPr lang="es-ES" dirty="0">
                <a:ea typeface="+mn-lt"/>
                <a:cs typeface="+mn-lt"/>
              </a:rPr>
              <a:t>¿Existe correlación entre distritos de mayor población y el número de accidentes totales?</a:t>
            </a:r>
          </a:p>
        </p:txBody>
      </p:sp>
    </p:spTree>
    <p:extLst>
      <p:ext uri="{BB962C8B-B14F-4D97-AF65-F5344CB8AC3E}">
        <p14:creationId xmlns:p14="http://schemas.microsoft.com/office/powerpoint/2010/main" val="376769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96879B-8E7B-5883-03BE-45D5A248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grafo</a:t>
            </a: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704892-7668-B3A5-7061-EE179BE5C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6969" y="1716795"/>
            <a:ext cx="8945211" cy="477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20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C8CDEB9-A309-BD9D-6455-B4E8080DE003}"/>
              </a:ext>
            </a:extLst>
          </p:cNvPr>
          <p:cNvSpPr txBox="1"/>
          <p:nvPr/>
        </p:nvSpPr>
        <p:spPr>
          <a:xfrm>
            <a:off x="1716157" y="2295940"/>
            <a:ext cx="875306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5000" cap="all" baseline="0">
                <a:solidFill>
                  <a:srgbClr val="0D0D0D"/>
                </a:solidFill>
                <a:latin typeface="Tw Cen MT Condensed"/>
              </a:rPr>
              <a:t>Muchas gracias por escucharnos</a:t>
            </a:r>
            <a:endParaRPr lang="es-ES"/>
          </a:p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7750DFB-15CE-CF9F-D6F7-DD85B8FD7477}"/>
              </a:ext>
            </a:extLst>
          </p:cNvPr>
          <p:cNvSpPr txBox="1"/>
          <p:nvPr/>
        </p:nvSpPr>
        <p:spPr>
          <a:xfrm>
            <a:off x="3108073" y="3429117"/>
            <a:ext cx="5977799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5000" cap="all">
                <a:solidFill>
                  <a:srgbClr val="0D0D0D"/>
                </a:solidFill>
                <a:latin typeface="Tw Cen MT Condensed"/>
              </a:rPr>
              <a:t>¿prEGUNTAS?</a:t>
            </a:r>
            <a:endParaRPr lang="es-ES" sz="5000" cap="all" dirty="0">
              <a:solidFill>
                <a:srgbClr val="0D0D0D"/>
              </a:solidFill>
              <a:latin typeface="Tw Cen MT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149969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6995_TF22378848.potx" id="{85DF5566-E470-4B76-A232-C21C6F80612C}" vid="{69CBCECC-819E-48E2-AFD3-2FC38523383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2AE8DFD5B27AD43B83E6E29959E8B6B" ma:contentTypeVersion="9" ma:contentTypeDescription="Crear nuevo documento." ma:contentTypeScope="" ma:versionID="e6c87ce55a87756ea568f7c042faf3af">
  <xsd:schema xmlns:xsd="http://www.w3.org/2001/XMLSchema" xmlns:xs="http://www.w3.org/2001/XMLSchema" xmlns:p="http://schemas.microsoft.com/office/2006/metadata/properties" xmlns:ns3="1c62b90d-4571-4b5b-aa22-483cb096ea32" xmlns:ns4="af18be91-8bb7-4699-afa9-dcfea0c51261" targetNamespace="http://schemas.microsoft.com/office/2006/metadata/properties" ma:root="true" ma:fieldsID="fd7b7fb528d9671ebd733b2f6b888663" ns3:_="" ns4:_="">
    <xsd:import namespace="1c62b90d-4571-4b5b-aa22-483cb096ea32"/>
    <xsd:import namespace="af18be91-8bb7-4699-afa9-dcfea0c5126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SearchProperties" minOccurs="0"/>
                <xsd:element ref="ns4:_activity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2b90d-4571-4b5b-aa22-483cb096ea3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18be91-8bb7-4699-afa9-dcfea0c5126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f18be91-8bb7-4699-afa9-dcfea0c51261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643886-CF34-4778-AC05-B96DCBE024C8}">
  <ds:schemaRefs>
    <ds:schemaRef ds:uri="1c62b90d-4571-4b5b-aa22-483cb096ea32"/>
    <ds:schemaRef ds:uri="af18be91-8bb7-4699-afa9-dcfea0c512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1c62b90d-4571-4b5b-aa22-483cb096ea32"/>
    <ds:schemaRef ds:uri="af18be91-8bb7-4699-afa9-dcfea0c5126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Integral</Template>
  <Application>Microsoft Office PowerPoint</Application>
  <PresentationFormat>Widescreen</PresentationFormat>
  <Slides>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Integral</vt:lpstr>
      <vt:lpstr>Road safety Madrid </vt:lpstr>
      <vt:lpstr>Datasets escogidos: ¿Por qué?</vt:lpstr>
      <vt:lpstr>VALOR AÑADIDO DE ROADSAFETY MADRID</vt:lpstr>
      <vt:lpstr>Obtenemos respuestas para varias preguntas</vt:lpstr>
      <vt:lpstr>grafo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Iglesias Aramburu</dc:creator>
  <cp:revision>63</cp:revision>
  <dcterms:created xsi:type="dcterms:W3CDTF">2025-11-16T10:51:43Z</dcterms:created>
  <dcterms:modified xsi:type="dcterms:W3CDTF">2025-11-17T16:53:38Z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0x01010072AE8DFD5B27AD43B83E6E29959E8B6B</vt:lpwstr>
  </property>
</Properties>
</file>