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3"/>
  </p:notesMasterIdLst>
  <p:sldIdLst>
    <p:sldId id="256" r:id="rId2"/>
    <p:sldId id="271" r:id="rId3"/>
    <p:sldId id="258" r:id="rId4"/>
    <p:sldId id="276" r:id="rId5"/>
    <p:sldId id="277" r:id="rId6"/>
    <p:sldId id="282" r:id="rId7"/>
    <p:sldId id="278" r:id="rId8"/>
    <p:sldId id="279" r:id="rId9"/>
    <p:sldId id="280" r:id="rId10"/>
    <p:sldId id="281" r:id="rId11"/>
    <p:sldId id="275" r:id="rId12"/>
  </p:sldIdLst>
  <p:sldSz cx="18288000" cy="10287000"/>
  <p:notesSz cx="6858000" cy="9144000"/>
  <p:embeddedFontLst>
    <p:embeddedFont>
      <p:font typeface="Arial Unicode MS" panose="020B0604020202020204" pitchFamily="34" charset="-128"/>
      <p:regular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E0F1"/>
    <a:srgbClr val="F5FFE3"/>
    <a:srgbClr val="FFF4C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79FAED-C46A-CB46-9EB7-313D5C46BC58}" v="500" dt="2025-11-15T21:44:37.035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97"/>
    <p:restoredTop sz="75293"/>
  </p:normalViewPr>
  <p:slideViewPr>
    <p:cSldViewPr snapToGrid="0">
      <p:cViewPr varScale="1">
        <p:scale>
          <a:sx n="58" d="100"/>
          <a:sy n="58" d="100"/>
        </p:scale>
        <p:origin x="1096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Requisito¿Se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cumple?Comentario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breve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R1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Smart City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domain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SíEs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un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dataset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de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calidad del aire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(medio ambiente urbano).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R2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CSV✔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SíEl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dataset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se proporciona en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formato CSV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R3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Licencia abierta✔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SíOpen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Data BCN usa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licencia abierta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reutilizable.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R4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Enlazabilidad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SíTiene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estaciones y localizaciones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enlazables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GeoNames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DBpedia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…).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R5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Documentación✔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ParcialHay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documentación básica del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dataset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R6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Múltiples fuentes✖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NoProviene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de una única fuente.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3B854519-5416-A544-D926-B399DFA2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C2D5F5FE-24D0-075F-D6EE-05361E321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Analysis.html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El documento explica la licencia del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analiza el contenido completo del CSV y define cómo se construirán las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URIs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para la ontología y los datos RDF.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DE2406D4-B963-2779-7244-83A0C9225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633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F3EFC507-8247-BC80-8283-2495203D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1C96D3CB-4110-AA19-EA94-1F39B04235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3515A7CC-6CA2-4161-BDCA-E8CD79FF2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0374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B5E79E3E-8BD5-ABF1-4A41-1DC1417A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9B89AC79-390F-D574-7978-61AE1B5DC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B408A6EA-EF95-1EB0-CB8D-AEDA6E3048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4075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DC8BB8DC-9C82-278B-33B9-A18F608A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C12E988C-001F-6FD4-3642-32737392B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EB26D364-2B54-6709-274D-54B8CB40C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7074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C35854B2-88C2-AFF5-8928-BED41410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93A10483-FC15-841D-744C-6E1637299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7F2070FF-59F0-91ED-361D-4551D7F7D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4358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1EEB9535-E7A1-F244-2F3B-F47FF0E6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4190D0DB-C70A-0C17-E96B-A75081218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EF05B306-DFE7-4703-2928-84BABB23E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3072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AAA5C99C-B00C-BA52-CDD4-A0E0EDF2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0FBA6464-38E8-CF9F-4D93-44FC5AE37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B8CDDC0C-6054-B2AF-8BE6-77733ACE8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2202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10" name="Google Shape;10;p2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Google Shape;11;p2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2;p2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Google Shape;13;p2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6051350" y="41684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7" name="Google Shape;37;p4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38" name="Google Shape;38;p4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39" name="Google Shape;39;p4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4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" name="Google Shape;41;p4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2" name="Google Shape;42;p4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43" name="Google Shape;43;p4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44" name="Google Shape;44;p4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4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4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2334" y="1755350"/>
            <a:ext cx="13436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6977913" y="64592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55" name="Google Shape;55;p5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56" name="Google Shape;56;p5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" name="Google Shape;57;p5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" name="Google Shape;58;p5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9" name="Google Shape;59;p5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60" name="Google Shape;60;p5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61" name="Google Shape;61;p5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5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3" name="Google Shape;63;p5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534950" y="1737900"/>
            <a:ext cx="1356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body" idx="1"/>
          </p:nvPr>
        </p:nvSpPr>
        <p:spPr>
          <a:xfrm>
            <a:off x="2930938" y="3981450"/>
            <a:ext cx="61935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2"/>
          </p:nvPr>
        </p:nvSpPr>
        <p:spPr>
          <a:xfrm>
            <a:off x="9358163" y="3981450"/>
            <a:ext cx="61935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grpSp>
        <p:nvGrpSpPr>
          <p:cNvPr id="72" name="Google Shape;72;p6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73" name="Google Shape;73;p6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74" name="Google Shape;74;p6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6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6" name="Google Shape;76;p6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77" name="Google Shape;77;p6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78" name="Google Shape;78;p6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79" name="Google Shape;79;p6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6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1" name="Google Shape;81;p6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>
            <a:spLocks noGrp="1"/>
          </p:cNvSpPr>
          <p:nvPr>
            <p:ph type="title"/>
          </p:nvPr>
        </p:nvSpPr>
        <p:spPr>
          <a:xfrm>
            <a:off x="593275" y="1736088"/>
            <a:ext cx="137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body" idx="1"/>
          </p:nvPr>
        </p:nvSpPr>
        <p:spPr>
          <a:xfrm>
            <a:off x="3169075" y="4726225"/>
            <a:ext cx="596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body" idx="2"/>
          </p:nvPr>
        </p:nvSpPr>
        <p:spPr>
          <a:xfrm>
            <a:off x="9348931" y="4726225"/>
            <a:ext cx="59646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grpSp>
        <p:nvGrpSpPr>
          <p:cNvPr id="90" name="Google Shape;90;p7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91" name="Google Shape;91;p7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92" name="Google Shape;92;p7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7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7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5" name="Google Shape;95;p7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97" name="Google Shape;97;p7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7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7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>
            <a:spLocks noGrp="1"/>
          </p:cNvSpPr>
          <p:nvPr>
            <p:ph type="title"/>
          </p:nvPr>
        </p:nvSpPr>
        <p:spPr>
          <a:xfrm>
            <a:off x="840600" y="2009550"/>
            <a:ext cx="15303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grpSp>
        <p:nvGrpSpPr>
          <p:cNvPr id="106" name="Google Shape;106;p8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107" name="Google Shape;107;p8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08" name="Google Shape;108;p8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8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8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1" name="Google Shape;111;p8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112" name="Google Shape;112;p8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13" name="Google Shape;113;p8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8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5" name="Google Shape;115;p8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17" name="Google Shape;117;p8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19" name="Google Shape;119;p8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>
            <a:spLocks noGrp="1"/>
          </p:cNvSpPr>
          <p:nvPr>
            <p:ph type="title"/>
          </p:nvPr>
        </p:nvSpPr>
        <p:spPr>
          <a:xfrm>
            <a:off x="446675" y="2397225"/>
            <a:ext cx="149703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body" idx="1"/>
          </p:nvPr>
        </p:nvSpPr>
        <p:spPr>
          <a:xfrm>
            <a:off x="8733875" y="3838900"/>
            <a:ext cx="8611500" cy="48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body" idx="2"/>
          </p:nvPr>
        </p:nvSpPr>
        <p:spPr>
          <a:xfrm>
            <a:off x="1905800" y="3918400"/>
            <a:ext cx="62313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124" name="Google Shape;124;p9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125" name="Google Shape;125;p9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26" name="Google Shape;126;p9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9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8" name="Google Shape;128;p9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9" name="Google Shape;129;p9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130" name="Google Shape;130;p9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31" name="Google Shape;131;p9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9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3" name="Google Shape;133;p9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37" name="Google Shape;137;p9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805818" y="3024300"/>
            <a:ext cx="137265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40" name="Google Shape;140;p10"/>
          <p:cNvSpPr>
            <a:spLocks noGrp="1"/>
          </p:cNvSpPr>
          <p:nvPr>
            <p:ph type="pic" idx="2"/>
          </p:nvPr>
        </p:nvSpPr>
        <p:spPr>
          <a:xfrm>
            <a:off x="10466513" y="430520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0"/>
          <p:cNvSpPr txBox="1">
            <a:spLocks noGrp="1"/>
          </p:cNvSpPr>
          <p:nvPr>
            <p:ph type="body" idx="1"/>
          </p:nvPr>
        </p:nvSpPr>
        <p:spPr>
          <a:xfrm>
            <a:off x="2098738" y="51292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142" name="Google Shape;142;p10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143" name="Google Shape;143;p10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44" name="Google Shape;144;p10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0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10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7" name="Google Shape;147;p10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148" name="Google Shape;148;p10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49" name="Google Shape;149;p10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0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1" name="Google Shape;151;p10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E3">
            <a:alpha val="37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1608150"/>
            <a:ext cx="13899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Open Sans"/>
              <a:buNone/>
              <a:defRPr sz="7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08375" y="3845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»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2206" y="-1900339"/>
            <a:ext cx="22074225" cy="2042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1"/>
          <p:cNvGrpSpPr/>
          <p:nvPr/>
        </p:nvGrpSpPr>
        <p:grpSpPr>
          <a:xfrm>
            <a:off x="578681" y="4628303"/>
            <a:ext cx="7493311" cy="1341155"/>
            <a:chOff x="0" y="-47625"/>
            <a:chExt cx="1594715" cy="285423"/>
          </a:xfrm>
        </p:grpSpPr>
        <p:sp>
          <p:nvSpPr>
            <p:cNvPr id="165" name="Google Shape;165;p11"/>
            <p:cNvSpPr/>
            <p:nvPr/>
          </p:nvSpPr>
          <p:spPr>
            <a:xfrm>
              <a:off x="0" y="0"/>
              <a:ext cx="1594715" cy="237798"/>
            </a:xfrm>
            <a:custGeom>
              <a:avLst/>
              <a:gdLst/>
              <a:ahLst/>
              <a:cxnLst/>
              <a:rect l="l" t="t" r="r" b="b"/>
              <a:pathLst>
                <a:path w="1594715" h="237798" extrusionOk="0">
                  <a:moveTo>
                    <a:pt x="52692" y="0"/>
                  </a:moveTo>
                  <a:lnTo>
                    <a:pt x="1542023" y="0"/>
                  </a:lnTo>
                  <a:cubicBezTo>
                    <a:pt x="1555997" y="0"/>
                    <a:pt x="1569400" y="5551"/>
                    <a:pt x="1579281" y="15433"/>
                  </a:cubicBezTo>
                  <a:cubicBezTo>
                    <a:pt x="1589163" y="25315"/>
                    <a:pt x="1594715" y="38717"/>
                    <a:pt x="1594715" y="52692"/>
                  </a:cubicBezTo>
                  <a:lnTo>
                    <a:pt x="1594715" y="185106"/>
                  </a:lnTo>
                  <a:cubicBezTo>
                    <a:pt x="1594715" y="214207"/>
                    <a:pt x="1571124" y="237798"/>
                    <a:pt x="1542023" y="237798"/>
                  </a:cubicBezTo>
                  <a:lnTo>
                    <a:pt x="52692" y="237798"/>
                  </a:lnTo>
                  <a:cubicBezTo>
                    <a:pt x="38717" y="237798"/>
                    <a:pt x="25315" y="232246"/>
                    <a:pt x="15433" y="222365"/>
                  </a:cubicBezTo>
                  <a:cubicBezTo>
                    <a:pt x="5551" y="212483"/>
                    <a:pt x="0" y="199080"/>
                    <a:pt x="0" y="185106"/>
                  </a:cubicBezTo>
                  <a:lnTo>
                    <a:pt x="0" y="52692"/>
                  </a:lnTo>
                  <a:cubicBezTo>
                    <a:pt x="0" y="38717"/>
                    <a:pt x="5551" y="25315"/>
                    <a:pt x="15433" y="15433"/>
                  </a:cubicBezTo>
                  <a:cubicBezTo>
                    <a:pt x="25315" y="5551"/>
                    <a:pt x="38717" y="0"/>
                    <a:pt x="52692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1"/>
            <p:cNvSpPr txBox="1"/>
            <p:nvPr/>
          </p:nvSpPr>
          <p:spPr>
            <a:xfrm>
              <a:off x="0" y="-47625"/>
              <a:ext cx="1594715" cy="28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1"/>
          <p:cNvSpPr txBox="1"/>
          <p:nvPr/>
        </p:nvSpPr>
        <p:spPr>
          <a:xfrm>
            <a:off x="-143140" y="3138171"/>
            <a:ext cx="1225471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0000" lvl="0" algn="ctr"/>
            <a:r>
              <a:rPr lang="en-US" sz="3200" b="1" dirty="0">
                <a:latin typeface="Open Sans"/>
                <a:ea typeface="Open Sans"/>
                <a:cs typeface="Open Sans"/>
                <a:sym typeface="Open Sans"/>
              </a:rPr>
              <a:t>Semantic Web, Linked Data and Knowledge Graphs</a:t>
            </a:r>
            <a:endParaRPr lang="en-US" sz="3200" dirty="0"/>
          </a:p>
        </p:txBody>
      </p:sp>
      <p:pic>
        <p:nvPicPr>
          <p:cNvPr id="181" name="Google Shape;1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97514" y="3768512"/>
            <a:ext cx="7271536" cy="5708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03783" y="1362737"/>
            <a:ext cx="3290699" cy="253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56;p14">
            <a:extLst>
              <a:ext uri="{FF2B5EF4-FFF2-40B4-BE49-F238E27FC236}">
                <a16:creationId xmlns:a16="http://schemas.microsoft.com/office/drawing/2014/main" id="{15A22C2F-9A68-AA76-0B0D-41C80A54021C}"/>
              </a:ext>
            </a:extLst>
          </p:cNvPr>
          <p:cNvSpPr txBox="1"/>
          <p:nvPr/>
        </p:nvSpPr>
        <p:spPr>
          <a:xfrm>
            <a:off x="714207" y="1974776"/>
            <a:ext cx="13234926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latin typeface="Open Sans"/>
                <a:ea typeface="Open Sans"/>
                <a:cs typeface="Open Sans"/>
                <a:sym typeface="Open Sans"/>
              </a:rPr>
              <a:t>¡BIENVENIDOS!</a:t>
            </a:r>
            <a:endParaRPr sz="1050" dirty="0"/>
          </a:p>
        </p:txBody>
      </p:sp>
      <p:sp>
        <p:nvSpPr>
          <p:cNvPr id="3" name="Google Shape;256;p14">
            <a:extLst>
              <a:ext uri="{FF2B5EF4-FFF2-40B4-BE49-F238E27FC236}">
                <a16:creationId xmlns:a16="http://schemas.microsoft.com/office/drawing/2014/main" id="{6BA30EC3-7CAE-A05A-2985-3B25E990FC88}"/>
              </a:ext>
            </a:extLst>
          </p:cNvPr>
          <p:cNvSpPr txBox="1"/>
          <p:nvPr/>
        </p:nvSpPr>
        <p:spPr>
          <a:xfrm>
            <a:off x="2230744" y="4330968"/>
            <a:ext cx="13234926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Group05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8FE48A-E1DB-9567-681F-2C991217F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59" y="6073549"/>
            <a:ext cx="72339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3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</a:t>
            </a:r>
            <a:r>
              <a:rPr kumimoji="0" lang="es-ES" altLang="es-E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 sobre la Calidad del Aire en Barcelona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Transformación, Enriquecimiento y Publicación en RDF</a:t>
            </a:r>
            <a:endParaRPr kumimoji="0" lang="es-ES" altLang="es-ES" sz="3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6"/>
          <p:cNvGrpSpPr/>
          <p:nvPr/>
        </p:nvGrpSpPr>
        <p:grpSpPr>
          <a:xfrm>
            <a:off x="-835847" y="1050230"/>
            <a:ext cx="10450902" cy="893601"/>
            <a:chOff x="0" y="-47625"/>
            <a:chExt cx="2486493" cy="222642"/>
          </a:xfrm>
        </p:grpSpPr>
        <p:sp>
          <p:nvSpPr>
            <p:cNvPr id="554" name="Google Shape;554;p26"/>
            <p:cNvSpPr/>
            <p:nvPr/>
          </p:nvSpPr>
          <p:spPr>
            <a:xfrm>
              <a:off x="0" y="0"/>
              <a:ext cx="2486493" cy="175017"/>
            </a:xfrm>
            <a:custGeom>
              <a:avLst/>
              <a:gdLst/>
              <a:ahLst/>
              <a:cxnLst/>
              <a:rect l="l" t="t" r="r" b="b"/>
              <a:pathLst>
                <a:path w="2486493" h="175017" extrusionOk="0">
                  <a:moveTo>
                    <a:pt x="39564" y="0"/>
                  </a:moveTo>
                  <a:lnTo>
                    <a:pt x="2446930" y="0"/>
                  </a:lnTo>
                  <a:cubicBezTo>
                    <a:pt x="2468780" y="0"/>
                    <a:pt x="2486493" y="17713"/>
                    <a:pt x="2486493" y="39564"/>
                  </a:cubicBezTo>
                  <a:lnTo>
                    <a:pt x="2486493" y="135453"/>
                  </a:lnTo>
                  <a:cubicBezTo>
                    <a:pt x="2486493" y="157304"/>
                    <a:pt x="2468780" y="175017"/>
                    <a:pt x="2446930" y="175017"/>
                  </a:cubicBezTo>
                  <a:lnTo>
                    <a:pt x="39564" y="175017"/>
                  </a:lnTo>
                  <a:cubicBezTo>
                    <a:pt x="17713" y="175017"/>
                    <a:pt x="0" y="157304"/>
                    <a:pt x="0" y="135453"/>
                  </a:cubicBezTo>
                  <a:lnTo>
                    <a:pt x="0" y="39564"/>
                  </a:lnTo>
                  <a:cubicBezTo>
                    <a:pt x="0" y="17713"/>
                    <a:pt x="17713" y="0"/>
                    <a:pt x="39564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6"/>
            <p:cNvSpPr txBox="1"/>
            <p:nvPr/>
          </p:nvSpPr>
          <p:spPr>
            <a:xfrm>
              <a:off x="0" y="-47625"/>
              <a:ext cx="2486493" cy="222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p26"/>
          <p:cNvSpPr txBox="1"/>
          <p:nvPr/>
        </p:nvSpPr>
        <p:spPr>
          <a:xfrm>
            <a:off x="1376578" y="578945"/>
            <a:ext cx="7767422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 err="1">
                <a:latin typeface="Open Sans"/>
                <a:ea typeface="Open Sans"/>
                <a:cs typeface="Open Sans"/>
                <a:sym typeface="Open Sans"/>
              </a:rPr>
              <a:t>Índice</a:t>
            </a:r>
            <a:r>
              <a:rPr lang="en-US" sz="7000" b="1" dirty="0">
                <a:latin typeface="Open Sans"/>
                <a:ea typeface="Open Sans"/>
                <a:cs typeface="Open Sans"/>
                <a:sym typeface="Open Sans"/>
              </a:rPr>
              <a:t> Hands-On</a:t>
            </a:r>
            <a:endParaRPr dirty="0"/>
          </a:p>
        </p:txBody>
      </p:sp>
      <p:sp>
        <p:nvSpPr>
          <p:cNvPr id="557" name="Google Shape;557;p26"/>
          <p:cNvSpPr txBox="1"/>
          <p:nvPr/>
        </p:nvSpPr>
        <p:spPr>
          <a:xfrm>
            <a:off x="1927740" y="2025708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Assignment-1</a:t>
            </a:r>
            <a:endParaRPr dirty="0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C137E3E1-3D9D-4464-D0AF-85A7021568E0}"/>
              </a:ext>
            </a:extLst>
          </p:cNvPr>
          <p:cNvSpPr/>
          <p:nvPr/>
        </p:nvSpPr>
        <p:spPr>
          <a:xfrm>
            <a:off x="925635" y="3993595"/>
            <a:ext cx="16317017" cy="2942358"/>
          </a:xfrm>
          <a:custGeom>
            <a:avLst/>
            <a:gdLst>
              <a:gd name="csX0" fmla="*/ 0 w 15937497"/>
              <a:gd name="csY0" fmla="*/ 1123349 h 4235021"/>
              <a:gd name="csX1" fmla="*/ 2549236 w 15937497"/>
              <a:gd name="csY1" fmla="*/ 42694 h 4235021"/>
              <a:gd name="csX2" fmla="*/ 5320145 w 15937497"/>
              <a:gd name="csY2" fmla="*/ 2425676 h 4235021"/>
              <a:gd name="csX3" fmla="*/ 8506691 w 15937497"/>
              <a:gd name="csY3" fmla="*/ 1400440 h 4235021"/>
              <a:gd name="csX4" fmla="*/ 11776363 w 15937497"/>
              <a:gd name="csY4" fmla="*/ 4199058 h 4235021"/>
              <a:gd name="csX5" fmla="*/ 15433963 w 15937497"/>
              <a:gd name="csY5" fmla="*/ 2979858 h 4235021"/>
              <a:gd name="csX6" fmla="*/ 15905018 w 15937497"/>
              <a:gd name="csY6" fmla="*/ 2869022 h 4235021"/>
              <a:gd name="csX7" fmla="*/ 15905018 w 15937497"/>
              <a:gd name="csY7" fmla="*/ 2869022 h 4235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937497" h="4235021">
                <a:moveTo>
                  <a:pt x="0" y="1123349"/>
                </a:moveTo>
                <a:cubicBezTo>
                  <a:pt x="831272" y="474494"/>
                  <a:pt x="1662545" y="-174360"/>
                  <a:pt x="2549236" y="42694"/>
                </a:cubicBezTo>
                <a:cubicBezTo>
                  <a:pt x="3435927" y="259748"/>
                  <a:pt x="4327236" y="2199385"/>
                  <a:pt x="5320145" y="2425676"/>
                </a:cubicBezTo>
                <a:cubicBezTo>
                  <a:pt x="6313054" y="2651967"/>
                  <a:pt x="7430655" y="1104876"/>
                  <a:pt x="8506691" y="1400440"/>
                </a:cubicBezTo>
                <a:cubicBezTo>
                  <a:pt x="9582727" y="1696004"/>
                  <a:pt x="10621818" y="3935822"/>
                  <a:pt x="11776363" y="4199058"/>
                </a:cubicBezTo>
                <a:cubicBezTo>
                  <a:pt x="12930908" y="4462294"/>
                  <a:pt x="14745854" y="3201531"/>
                  <a:pt x="15433963" y="2979858"/>
                </a:cubicBezTo>
                <a:cubicBezTo>
                  <a:pt x="16122072" y="2758185"/>
                  <a:pt x="15905018" y="2869022"/>
                  <a:pt x="15905018" y="2869022"/>
                </a:cubicBezTo>
                <a:lnTo>
                  <a:pt x="15905018" y="2869022"/>
                </a:lnTo>
              </a:path>
            </a:pathLst>
          </a:cu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Google Shape;557;p26">
            <a:extLst>
              <a:ext uri="{FF2B5EF4-FFF2-40B4-BE49-F238E27FC236}">
                <a16:creationId xmlns:a16="http://schemas.microsoft.com/office/drawing/2014/main" id="{6173F333-E092-F01A-A0FA-E6AF7E0CEE43}"/>
              </a:ext>
            </a:extLst>
          </p:cNvPr>
          <p:cNvSpPr txBox="1"/>
          <p:nvPr/>
        </p:nvSpPr>
        <p:spPr>
          <a:xfrm>
            <a:off x="7898447" y="2982249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Assignment-3</a:t>
            </a:r>
            <a:endParaRPr dirty="0"/>
          </a:p>
        </p:txBody>
      </p:sp>
      <p:sp>
        <p:nvSpPr>
          <p:cNvPr id="7" name="Google Shape;557;p26">
            <a:extLst>
              <a:ext uri="{FF2B5EF4-FFF2-40B4-BE49-F238E27FC236}">
                <a16:creationId xmlns:a16="http://schemas.microsoft.com/office/drawing/2014/main" id="{95A93E79-D131-54D8-33C2-959D55566229}"/>
              </a:ext>
            </a:extLst>
          </p:cNvPr>
          <p:cNvSpPr txBox="1"/>
          <p:nvPr/>
        </p:nvSpPr>
        <p:spPr>
          <a:xfrm>
            <a:off x="5152300" y="5924698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Assignment-2</a:t>
            </a:r>
            <a:endParaRPr dirty="0"/>
          </a:p>
        </p:txBody>
      </p:sp>
      <p:sp>
        <p:nvSpPr>
          <p:cNvPr id="8" name="Google Shape;557;p26">
            <a:extLst>
              <a:ext uri="{FF2B5EF4-FFF2-40B4-BE49-F238E27FC236}">
                <a16:creationId xmlns:a16="http://schemas.microsoft.com/office/drawing/2014/main" id="{77D298EE-4ED0-808E-7A58-EC43B97B758E}"/>
              </a:ext>
            </a:extLst>
          </p:cNvPr>
          <p:cNvSpPr txBox="1"/>
          <p:nvPr/>
        </p:nvSpPr>
        <p:spPr>
          <a:xfrm>
            <a:off x="11759972" y="7303831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Assignment-4</a:t>
            </a:r>
            <a:endParaRPr dirty="0"/>
          </a:p>
        </p:txBody>
      </p:sp>
      <p:sp>
        <p:nvSpPr>
          <p:cNvPr id="9" name="Google Shape;557;p26">
            <a:extLst>
              <a:ext uri="{FF2B5EF4-FFF2-40B4-BE49-F238E27FC236}">
                <a16:creationId xmlns:a16="http://schemas.microsoft.com/office/drawing/2014/main" id="{A221D1CF-8170-8CAE-8C43-283DEA0D8A24}"/>
              </a:ext>
            </a:extLst>
          </p:cNvPr>
          <p:cNvSpPr txBox="1"/>
          <p:nvPr/>
        </p:nvSpPr>
        <p:spPr>
          <a:xfrm>
            <a:off x="14920155" y="4007906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Assignment-5</a:t>
            </a:r>
            <a:endParaRPr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E1DA2D5-09F0-D074-A103-E1653A7B4ED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4684" y="2617273"/>
            <a:ext cx="53445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Seleccionar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revisar requisitos tanto de los datos como de la aplicación.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F98DE04-9792-49A3-D42E-F0290B792470}"/>
              </a:ext>
            </a:extLst>
          </p:cNvPr>
          <p:cNvSpPr/>
          <p:nvPr/>
        </p:nvSpPr>
        <p:spPr>
          <a:xfrm>
            <a:off x="2879643" y="3772958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9F97A31-D8B5-DC36-DB27-4E969BAA4667}"/>
              </a:ext>
            </a:extLst>
          </p:cNvPr>
          <p:cNvSpPr/>
          <p:nvPr/>
        </p:nvSpPr>
        <p:spPr>
          <a:xfrm>
            <a:off x="6192423" y="5426810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AD61D16-B303-8B91-2411-5CA26C0E9899}"/>
              </a:ext>
            </a:extLst>
          </p:cNvPr>
          <p:cNvSpPr/>
          <p:nvPr/>
        </p:nvSpPr>
        <p:spPr>
          <a:xfrm>
            <a:off x="9144000" y="4635120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1985CEC-F87D-1713-349F-D5A4DD602315}"/>
              </a:ext>
            </a:extLst>
          </p:cNvPr>
          <p:cNvSpPr/>
          <p:nvPr/>
        </p:nvSpPr>
        <p:spPr>
          <a:xfrm>
            <a:off x="12639025" y="6634638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616F877-271F-85A4-DE10-0439FC04DB1B}"/>
              </a:ext>
            </a:extLst>
          </p:cNvPr>
          <p:cNvSpPr/>
          <p:nvPr/>
        </p:nvSpPr>
        <p:spPr>
          <a:xfrm>
            <a:off x="16381100" y="5767479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E86D27F6-9603-C1A0-1FD1-53ECEACCE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604" y="6587202"/>
            <a:ext cx="42136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Primeros pasos del proceso de 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generación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Linked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Data</a:t>
            </a:r>
            <a:endParaRPr kumimoji="0" lang="es-ES" altLang="es-E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B56910-F609-D1D3-2AAB-4887D4446E9B}"/>
              </a:ext>
            </a:extLst>
          </p:cNvPr>
          <p:cNvSpPr txBox="1"/>
          <p:nvPr/>
        </p:nvSpPr>
        <p:spPr>
          <a:xfrm>
            <a:off x="7086645" y="3554358"/>
            <a:ext cx="46196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Limpiar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y preparar los datos del CSV usando </a:t>
            </a:r>
            <a:r>
              <a:rPr lang="es-ES" sz="2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OpenRefine</a:t>
            </a:r>
            <a:endParaRPr lang="es-ES" sz="2400" dirty="0"/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AB9C3D4E-173A-BC33-A97C-11711692C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0479" y="7844074"/>
            <a:ext cx="490704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ransformar el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utilizando RML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comprobando mediante consultas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SPARQL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071253E-1DC6-89F9-F6A3-30692FBCF351}"/>
              </a:ext>
            </a:extLst>
          </p:cNvPr>
          <p:cNvSpPr txBox="1"/>
          <p:nvPr/>
        </p:nvSpPr>
        <p:spPr>
          <a:xfrm>
            <a:off x="14274268" y="4633777"/>
            <a:ext cx="42136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s-ES" sz="240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nlazar nuestro RDF con otros </a:t>
            </a:r>
            <a:r>
              <a:rPr lang="es-ES" sz="240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datasets</a:t>
            </a:r>
            <a:r>
              <a:rPr lang="es-ES" sz="240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externos</a:t>
            </a:r>
            <a:endParaRPr 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11">
            <a:extLst>
              <a:ext uri="{FF2B5EF4-FFF2-40B4-BE49-F238E27FC236}">
                <a16:creationId xmlns:a16="http://schemas.microsoft.com/office/drawing/2014/main" id="{3F4FB737-476E-CEAE-A69C-00494852A3D1}"/>
              </a:ext>
            </a:extLst>
          </p:cNvPr>
          <p:cNvSpPr/>
          <p:nvPr/>
        </p:nvSpPr>
        <p:spPr>
          <a:xfrm>
            <a:off x="8972063" y="3355886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A929B64-11CE-F7CE-A158-04A9D4935B9C}"/>
              </a:ext>
            </a:extLst>
          </p:cNvPr>
          <p:cNvSpPr/>
          <p:nvPr/>
        </p:nvSpPr>
        <p:spPr>
          <a:xfrm>
            <a:off x="9006369" y="2280238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DB8203B-09B9-C2B8-0B61-84C4703C4E23}"/>
              </a:ext>
            </a:extLst>
          </p:cNvPr>
          <p:cNvSpPr/>
          <p:nvPr/>
        </p:nvSpPr>
        <p:spPr>
          <a:xfrm>
            <a:off x="1559536" y="833595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D1CAB5E-4760-FF76-5AC3-1D4265B4FDEB}"/>
              </a:ext>
            </a:extLst>
          </p:cNvPr>
          <p:cNvSpPr/>
          <p:nvPr/>
        </p:nvSpPr>
        <p:spPr>
          <a:xfrm>
            <a:off x="1559536" y="3541704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2FA3CD8-0E57-CEB3-2900-5E086E4F9A2E}"/>
              </a:ext>
            </a:extLst>
          </p:cNvPr>
          <p:cNvSpPr/>
          <p:nvPr/>
        </p:nvSpPr>
        <p:spPr>
          <a:xfrm>
            <a:off x="1609018" y="228023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/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/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/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1</a:t>
            </a:r>
            <a:endParaRPr sz="1100" dirty="0"/>
          </a:p>
        </p:txBody>
      </p:sp>
      <p:sp>
        <p:nvSpPr>
          <p:cNvPr id="238" name="Google Shape;238;p13"/>
          <p:cNvSpPr txBox="1"/>
          <p:nvPr/>
        </p:nvSpPr>
        <p:spPr>
          <a:xfrm>
            <a:off x="8793950" y="13086785"/>
            <a:ext cx="115468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endParaRPr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504E35B-A319-8414-66CA-B2812389E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524263"/>
              </p:ext>
            </p:extLst>
          </p:nvPr>
        </p:nvGraphicFramePr>
        <p:xfrm>
          <a:off x="1078522" y="5593617"/>
          <a:ext cx="5486400" cy="2225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7790749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55784557"/>
                    </a:ext>
                  </a:extLst>
                </a:gridCol>
              </a:tblGrid>
              <a:tr h="175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000" dirty="0"/>
                        <a:t>Requisito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000" dirty="0"/>
                        <a:t>¿Se cumple?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078267"/>
                  </a:ext>
                </a:extLst>
              </a:tr>
              <a:tr h="1720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R1</a:t>
                      </a:r>
                      <a:r>
                        <a:rPr lang="es-ES" dirty="0"/>
                        <a:t> Smart City </a:t>
                      </a:r>
                      <a:r>
                        <a:rPr lang="es-ES" dirty="0" err="1"/>
                        <a:t>domain</a:t>
                      </a:r>
                      <a:endParaRPr lang="es-ES" dirty="0"/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Sí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28919"/>
                  </a:ext>
                </a:extLst>
              </a:tr>
              <a:tr h="1484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R2</a:t>
                      </a:r>
                      <a:r>
                        <a:rPr lang="es-ES" dirty="0"/>
                        <a:t> CSV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Sí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583535"/>
                  </a:ext>
                </a:extLst>
              </a:tr>
              <a:tr h="178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R3</a:t>
                      </a:r>
                      <a:r>
                        <a:rPr lang="es-ES" dirty="0"/>
                        <a:t> Licencia abierta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Sí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410812"/>
                  </a:ext>
                </a:extLst>
              </a:tr>
              <a:tr h="183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R4</a:t>
                      </a:r>
                      <a:r>
                        <a:rPr lang="es-ES" dirty="0"/>
                        <a:t> </a:t>
                      </a:r>
                      <a:r>
                        <a:rPr lang="es-ES" dirty="0" err="1"/>
                        <a:t>Enlazabilidad</a:t>
                      </a:r>
                      <a:endParaRPr lang="es-ES" dirty="0"/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Sí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582503"/>
                  </a:ext>
                </a:extLst>
              </a:tr>
              <a:tr h="17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/>
                        <a:t>R5</a:t>
                      </a:r>
                      <a:r>
                        <a:rPr lang="es-ES"/>
                        <a:t> Documentación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Parcial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665090"/>
                  </a:ext>
                </a:extLst>
              </a:tr>
              <a:tr h="1693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R6</a:t>
                      </a:r>
                      <a:r>
                        <a:rPr lang="es-ES" dirty="0"/>
                        <a:t> Múltiples fuentes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✖ No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9265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AAF7AF8-86D6-FD81-3687-67C9C8992AEA}"/>
              </a:ext>
            </a:extLst>
          </p:cNvPr>
          <p:cNvSpPr txBox="1"/>
          <p:nvPr/>
        </p:nvSpPr>
        <p:spPr>
          <a:xfrm>
            <a:off x="1609017" y="2289681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</a:t>
            </a: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-&gt; </a:t>
            </a:r>
            <a:r>
              <a:rPr lang="es-ES" sz="2400" dirty="0" err="1"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README.md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F3207C0-E5C4-6EFC-4CEB-B02BBB09AE36}"/>
              </a:ext>
            </a:extLst>
          </p:cNvPr>
          <p:cNvSpPr txBox="1"/>
          <p:nvPr/>
        </p:nvSpPr>
        <p:spPr>
          <a:xfrm>
            <a:off x="1609018" y="3541704"/>
            <a:ext cx="4442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2. </a:t>
            </a: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CSV file 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6ECC69-AD97-0EB8-9FE3-C3F084EF3E3F}"/>
              </a:ext>
            </a:extLst>
          </p:cNvPr>
          <p:cNvSpPr txBox="1"/>
          <p:nvPr/>
        </p:nvSpPr>
        <p:spPr>
          <a:xfrm>
            <a:off x="9006369" y="2254646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 err="1">
                <a:highlight>
                  <a:srgbClr val="00FFFF"/>
                </a:highlight>
              </a:rPr>
              <a:t>datasetRequirements.html</a:t>
            </a:r>
            <a:endParaRPr lang="es-ES" sz="18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399DC0-971E-AFE2-3C77-D8A400F6476F}"/>
              </a:ext>
            </a:extLst>
          </p:cNvPr>
          <p:cNvSpPr txBox="1"/>
          <p:nvPr/>
        </p:nvSpPr>
        <p:spPr>
          <a:xfrm>
            <a:off x="9006369" y="3305959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4. </a:t>
            </a:r>
            <a:r>
              <a:rPr lang="es-ES" sz="2400" dirty="0" err="1"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applicationRequirements.html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1A1B09-B4FA-64F0-21E0-C7245612A75A}"/>
              </a:ext>
            </a:extLst>
          </p:cNvPr>
          <p:cNvSpPr txBox="1"/>
          <p:nvPr/>
        </p:nvSpPr>
        <p:spPr>
          <a:xfrm>
            <a:off x="1609017" y="8335952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5. </a:t>
            </a:r>
            <a:r>
              <a:rPr lang="es-ES" sz="2400" dirty="0">
                <a:highlight>
                  <a:srgbClr val="00FFFF"/>
                </a:highlight>
              </a:rPr>
              <a:t>selfAssessmentHandsOn1.md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6816132-B1F8-5DD1-5E1B-9DE69D24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070" y="4190132"/>
            <a:ext cx="535744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latin typeface="Arial Unicode MS" panose="020B0604020202020204" pitchFamily="34" charset="-128"/>
              </a:rPr>
              <a:t>2018_06_Juny_qualitat_aire_BCN.csv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latin typeface="-webkit-standard"/>
              </a:rPr>
              <a:t> 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es el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dataset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de calidad del aire de Barcelona (junio 2018)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5" name="Imagen 14" descr="Mapa&#10;&#10;El contenido generado por IA puede ser incorrecto.">
            <a:extLst>
              <a:ext uri="{FF2B5EF4-FFF2-40B4-BE49-F238E27FC236}">
                <a16:creationId xmlns:a16="http://schemas.microsoft.com/office/drawing/2014/main" id="{404F457C-050F-2F16-E483-AC055199C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4882" y="4451042"/>
            <a:ext cx="3390992" cy="4092917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3C8C423B-0039-DA37-F71E-14A34A1D8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2063" y="3992170"/>
            <a:ext cx="5297845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7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Functional</a:t>
            </a: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17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</a:t>
            </a: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kumimoji="0" lang="es-ES" altLang="es-E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Mostrar índice de calidad del aire claro y entendible.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Indicar contaminante, estación y hora de medición.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Explicar umbrales sin tecnicismos.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Mapa con calidad del aire por zonas.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Enviar alertas cuando empeore la calidad del 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7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Non-</a:t>
            </a:r>
            <a:r>
              <a:rPr kumimoji="0" lang="es-ES" altLang="es-ES" sz="17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Functional</a:t>
            </a: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17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</a:t>
            </a: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kumimoji="0" lang="es-ES" altLang="es-E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Localización opcional y control total de privacidad.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Configuración de alertas (frecuencia, sensibilidad, zonas).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Lenguaje claro, accesible y disponible en ES/EN.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Mostrar siempre fuente oficial y hora de actualización.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4EDB5B4-F180-0C29-B1AE-743ED68D3419}"/>
              </a:ext>
            </a:extLst>
          </p:cNvPr>
          <p:cNvCxnSpPr/>
          <p:nvPr/>
        </p:nvCxnSpPr>
        <p:spPr>
          <a:xfrm>
            <a:off x="7645258" y="2280238"/>
            <a:ext cx="0" cy="652091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45C3C10E-EE8D-C948-A26E-01FD930DD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51E68664-0AC0-DCFC-C5C6-7216D727F7FA}"/>
              </a:ext>
            </a:extLst>
          </p:cNvPr>
          <p:cNvSpPr/>
          <p:nvPr/>
        </p:nvSpPr>
        <p:spPr>
          <a:xfrm>
            <a:off x="9006369" y="2280238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EC2AB50-25E2-50FC-0FB4-852B149E2A29}"/>
              </a:ext>
            </a:extLst>
          </p:cNvPr>
          <p:cNvSpPr/>
          <p:nvPr/>
        </p:nvSpPr>
        <p:spPr>
          <a:xfrm>
            <a:off x="8913586" y="765264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BBF7A94-928D-B59F-51D6-E76D39F88663}"/>
              </a:ext>
            </a:extLst>
          </p:cNvPr>
          <p:cNvSpPr/>
          <p:nvPr/>
        </p:nvSpPr>
        <p:spPr>
          <a:xfrm>
            <a:off x="1609017" y="627469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B0EBEFB-B4F9-7754-6910-17243AC8F4A5}"/>
              </a:ext>
            </a:extLst>
          </p:cNvPr>
          <p:cNvSpPr/>
          <p:nvPr/>
        </p:nvSpPr>
        <p:spPr>
          <a:xfrm>
            <a:off x="1609018" y="228023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257A8196-F165-FFDD-B41A-3DA67F95E23D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C02063DB-FBFD-19F1-16FC-710CE8E0726A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D6028855-57F7-4137-ADD2-DD92B71261A9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B712117D-8E87-6DCF-3443-202562D0DD16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2</a:t>
            </a:r>
            <a:endParaRPr sz="1100" dirty="0"/>
          </a:p>
        </p:txBody>
      </p:sp>
      <p:sp>
        <p:nvSpPr>
          <p:cNvPr id="238" name="Google Shape;238;p13">
            <a:extLst>
              <a:ext uri="{FF2B5EF4-FFF2-40B4-BE49-F238E27FC236}">
                <a16:creationId xmlns:a16="http://schemas.microsoft.com/office/drawing/2014/main" id="{7BABDFF7-66C2-5083-9397-47753E44D9A5}"/>
              </a:ext>
            </a:extLst>
          </p:cNvPr>
          <p:cNvSpPr txBox="1"/>
          <p:nvPr/>
        </p:nvSpPr>
        <p:spPr>
          <a:xfrm>
            <a:off x="8793950" y="13086785"/>
            <a:ext cx="115468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endParaRPr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ED63DB-0FBA-E328-4901-0C0A4AE75C95}"/>
              </a:ext>
            </a:extLst>
          </p:cNvPr>
          <p:cNvSpPr txBox="1"/>
          <p:nvPr/>
        </p:nvSpPr>
        <p:spPr>
          <a:xfrm>
            <a:off x="1609017" y="2289681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highlight>
                  <a:srgbClr val="00FFFF"/>
                </a:highlight>
              </a:rPr>
              <a:t>analysis.html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7457EC-7BDF-5959-8967-D47CB8B95B82}"/>
              </a:ext>
            </a:extLst>
          </p:cNvPr>
          <p:cNvSpPr txBox="1"/>
          <p:nvPr/>
        </p:nvSpPr>
        <p:spPr>
          <a:xfrm>
            <a:off x="9056575" y="2265279"/>
            <a:ext cx="4442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2. </a:t>
            </a:r>
            <a:r>
              <a:rPr lang="es-ES" sz="2400" dirty="0" err="1"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BcnAirQuality.ttl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8B5662-8D49-0E3E-2011-738056C08DE3}"/>
              </a:ext>
            </a:extLst>
          </p:cNvPr>
          <p:cNvSpPr txBox="1"/>
          <p:nvPr/>
        </p:nvSpPr>
        <p:spPr>
          <a:xfrm>
            <a:off x="1609017" y="6293657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 err="1"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BcnAirQualityExample.ttl</a:t>
            </a:r>
            <a:endParaRPr lang="es-ES" sz="18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A0DDE0-CFF5-025C-81CD-44FCBFA3FF81}"/>
              </a:ext>
            </a:extLst>
          </p:cNvPr>
          <p:cNvSpPr txBox="1"/>
          <p:nvPr/>
        </p:nvSpPr>
        <p:spPr>
          <a:xfrm>
            <a:off x="8958330" y="7652647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4. </a:t>
            </a:r>
            <a:r>
              <a:rPr lang="es-ES" sz="2400" dirty="0">
                <a:highlight>
                  <a:srgbClr val="00FFFF"/>
                </a:highlight>
              </a:rPr>
              <a:t>selfAssessmentHandsOn2.md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A61CE6B-38AF-9F0F-AB12-4122D2870040}"/>
              </a:ext>
            </a:extLst>
          </p:cNvPr>
          <p:cNvCxnSpPr>
            <a:cxnSpLocks/>
          </p:cNvCxnSpPr>
          <p:nvPr/>
        </p:nvCxnSpPr>
        <p:spPr>
          <a:xfrm>
            <a:off x="8305658" y="2262063"/>
            <a:ext cx="0" cy="66986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">
            <a:extLst>
              <a:ext uri="{FF2B5EF4-FFF2-40B4-BE49-F238E27FC236}">
                <a16:creationId xmlns:a16="http://schemas.microsoft.com/office/drawing/2014/main" id="{1DD2C714-7787-13BE-3DB9-5CF80C260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030" y="3097353"/>
            <a:ext cx="6646260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ES" altLang="es-E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Licencia: </a:t>
            </a:r>
            <a:r>
              <a:rPr lang="es-ES" alt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</a:t>
            </a:r>
            <a:r>
              <a:rPr lang="es-ES" altLang="es-E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s-ES" alt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el proyecto se pueden publicar como </a:t>
            </a:r>
            <a:r>
              <a:rPr lang="es-ES" altLang="es-E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</a:t>
            </a:r>
            <a:r>
              <a:rPr lang="es-ES" alt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 sin restricciones.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ES" altLang="es-E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Análisis de </a:t>
            </a:r>
            <a:r>
              <a:rPr lang="es-ES" altLang="es-ES" sz="20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s-ES" altLang="es-E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s-ES" altLang="es-E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 explica todo el contenido del CSV columna por columna.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Estrategia de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URI</a:t>
            </a:r>
            <a:r>
              <a:rPr lang="es-ES" altLang="es-ES" sz="20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</a:t>
            </a:r>
            <a:r>
              <a:rPr lang="es-ES" altLang="es-E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s-ES" altLang="es-E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 define cómo se nombrarán en RDF los elementos del </a:t>
            </a:r>
            <a:r>
              <a:rPr lang="es-ES" altLang="es-ES" sz="20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s-ES" altLang="es-E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</a:pP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http://</a:t>
            </a:r>
            <a:r>
              <a:rPr lang="es-ES" altLang="es-E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airecalidadbcn.linkeddata.es</a:t>
            </a: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</a:pP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http://</a:t>
            </a:r>
            <a:r>
              <a:rPr lang="es-ES" altLang="es-E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airecalidadbcn.linkeddata.es</a:t>
            </a: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/g05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</a:pP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http://</a:t>
            </a:r>
            <a:r>
              <a:rPr lang="es-ES" altLang="es-E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airecalidadbcn.linkeddata.es</a:t>
            </a: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/g05/</a:t>
            </a:r>
            <a:r>
              <a:rPr lang="es-ES" altLang="es-E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ontology</a:t>
            </a: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#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3AE74BF5-796C-B0BC-9D00-F7753B29E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5223" y="3121696"/>
            <a:ext cx="8882857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ES" altLang="es-E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Prefijos y Ontología: </a:t>
            </a:r>
            <a:r>
              <a:rPr lang="es-ES" altLang="es-ES" sz="20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owl:versionIRI</a:t>
            </a:r>
            <a:r>
              <a:rPr lang="es-ES" altLang="es-E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ES" altLang="es-E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&lt;http://</a:t>
            </a:r>
            <a:r>
              <a:rPr lang="es-ES" altLang="es-ES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airecalidadbcn.linkeddata.es</a:t>
            </a:r>
            <a:r>
              <a:rPr lang="es-ES" altLang="es-E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/g05/ontology#1.0.0&gt;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endParaRPr lang="es-ES" altLang="es-E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Clases definidas: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Distinct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Sample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endParaRPr lang="es-ES" altLang="es-E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Relaciones entre recursos: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has_date_time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has_hash_code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has-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endParaRPr lang="es-ES" altLang="es-E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Atributos numéricos: has_hour_03, has_value_03, has_hour_no2, has_value_no2, has_hour_pm10, has_value_pm10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17AE361-8668-4AD8-3371-5FBC52AA6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109" y="6929373"/>
            <a:ext cx="645010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Representa un ejemplo del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usando nuestra ontología.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los contaminantes O3, NO2 y PM10.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 tres muestras reales con: estación, contaminante</a:t>
            </a:r>
            <a:r>
              <a:rPr lang="es-ES" altLang="es-E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valor numérico, fecha/hora ISO, unidad y comentario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Muestra cómo se conectan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Sample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Contaminant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 RDF.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20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6E0657A-030E-F121-AF4E-7B77E52C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FE06C4F9-1A1F-4358-F7D9-387AAAC5C801}"/>
              </a:ext>
            </a:extLst>
          </p:cNvPr>
          <p:cNvSpPr/>
          <p:nvPr/>
        </p:nvSpPr>
        <p:spPr>
          <a:xfrm>
            <a:off x="9006369" y="2280238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69C230E-5CD8-D4A1-5949-087F645BD007}"/>
              </a:ext>
            </a:extLst>
          </p:cNvPr>
          <p:cNvSpPr/>
          <p:nvPr/>
        </p:nvSpPr>
        <p:spPr>
          <a:xfrm>
            <a:off x="1559536" y="833595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A509164-2A2E-2B51-524A-594D0BC718CA}"/>
              </a:ext>
            </a:extLst>
          </p:cNvPr>
          <p:cNvSpPr/>
          <p:nvPr/>
        </p:nvSpPr>
        <p:spPr>
          <a:xfrm>
            <a:off x="1609018" y="228023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F3462253-CA9D-226C-DD0A-A3FDE22E1C7F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CA064C65-50A7-7CFE-1237-DB975BBFD5AD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85ECE204-EFC8-BD36-C033-24574F423ED1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09C2A597-2D87-DDF3-6B4B-2979FB308489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3</a:t>
            </a:r>
            <a:endParaRPr sz="11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2D7306-B062-43EC-1B8C-446C5D5B6742}"/>
              </a:ext>
            </a:extLst>
          </p:cNvPr>
          <p:cNvSpPr txBox="1"/>
          <p:nvPr/>
        </p:nvSpPr>
        <p:spPr>
          <a:xfrm>
            <a:off x="1609017" y="2289681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highlight>
                  <a:srgbClr val="00FFFF"/>
                </a:highlight>
              </a:rPr>
              <a:t>openrefineOperations.json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2017D9-37DD-F1FE-69F3-41F26017E98B}"/>
              </a:ext>
            </a:extLst>
          </p:cNvPr>
          <p:cNvSpPr txBox="1"/>
          <p:nvPr/>
        </p:nvSpPr>
        <p:spPr>
          <a:xfrm>
            <a:off x="9006368" y="2254646"/>
            <a:ext cx="8778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2. </a:t>
            </a:r>
            <a:r>
              <a:rPr lang="es-ES" sz="2400" dirty="0">
                <a:solidFill>
                  <a:schemeClr val="tx1"/>
                </a:solidFill>
                <a:highlight>
                  <a:srgbClr val="00FFFF"/>
                </a:highlight>
              </a:rPr>
              <a:t>2018-06-Juny-qualitat-aire-BCN-updated.csv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4BE922C-E66C-D575-4CC1-4DD83634367C}"/>
              </a:ext>
            </a:extLst>
          </p:cNvPr>
          <p:cNvSpPr txBox="1"/>
          <p:nvPr/>
        </p:nvSpPr>
        <p:spPr>
          <a:xfrm>
            <a:off x="1609017" y="8335952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>
                <a:highlight>
                  <a:srgbClr val="00FFFF"/>
                </a:highlight>
              </a:rPr>
              <a:t>selfAssessmentHandsOn3.md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BAB168B-DDBC-60E0-288F-C581DC9EB7AB}"/>
              </a:ext>
            </a:extLst>
          </p:cNvPr>
          <p:cNvCxnSpPr>
            <a:cxnSpLocks/>
          </p:cNvCxnSpPr>
          <p:nvPr/>
        </p:nvCxnSpPr>
        <p:spPr>
          <a:xfrm>
            <a:off x="8712528" y="2289681"/>
            <a:ext cx="0" cy="584178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">
            <a:extLst>
              <a:ext uri="{FF2B5EF4-FFF2-40B4-BE49-F238E27FC236}">
                <a16:creationId xmlns:a16="http://schemas.microsoft.com/office/drawing/2014/main" id="{00AB8BFB-BDE5-1AA6-30AF-D5CD96338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017" y="3189281"/>
            <a:ext cx="64162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Contiene 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todas las operaciones de limpieza y transformación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realizadas.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1B02F83F-E0C2-7AD1-8148-89AE52F4616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09017" y="4074768"/>
            <a:ext cx="641629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Unificación de valores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Simplificación de nombres de distrito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Renombrado de columnas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lang="es-ES" alt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Mediciones y unidades homogéneas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lang="es-ES" alt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Eliminación de filas en las que faltaban datos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5" name="Imagen 24" descr="Aplicación, Tabla, Excel&#10;&#10;El contenido generado por IA puede ser incorrecto.">
            <a:extLst>
              <a:ext uri="{FF2B5EF4-FFF2-40B4-BE49-F238E27FC236}">
                <a16:creationId xmlns:a16="http://schemas.microsoft.com/office/drawing/2014/main" id="{2B2D29E1-8BCB-CB1D-BD57-84C041164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02" y="3336627"/>
            <a:ext cx="8217179" cy="46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2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6645BBCE-C092-108E-7220-96897E3A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69DE9E2C-DAB1-6DBB-341E-BE4D2FDBAB97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F638C8B2-49C3-5CA0-A7FE-908A9D5E99B1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A97D1D4D-4F13-5C4E-5A3E-FB912E000C9D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DFAC91AA-1BE0-6ABF-6C15-3F3E8966E95D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3</a:t>
            </a:r>
            <a:endParaRPr sz="1100" dirty="0"/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B9C2C264-2F9A-E604-F97F-A84CAB49F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18" y="2212621"/>
            <a:ext cx="14419479" cy="758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69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D9F1AAD-04F4-27D0-ED81-116E1243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>
            <a:extLst>
              <a:ext uri="{FF2B5EF4-FFF2-40B4-BE49-F238E27FC236}">
                <a16:creationId xmlns:a16="http://schemas.microsoft.com/office/drawing/2014/main" id="{6B1704E0-0E6C-2219-E635-8110B3E2C4A0}"/>
              </a:ext>
            </a:extLst>
          </p:cNvPr>
          <p:cNvSpPr/>
          <p:nvPr/>
        </p:nvSpPr>
        <p:spPr>
          <a:xfrm>
            <a:off x="9767587" y="415721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87B2F66-14BE-B8F0-CAD6-194F43107A77}"/>
              </a:ext>
            </a:extLst>
          </p:cNvPr>
          <p:cNvSpPr/>
          <p:nvPr/>
        </p:nvSpPr>
        <p:spPr>
          <a:xfrm>
            <a:off x="9681297" y="208311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D3FABA4-CD26-8771-4ABB-2FF2EF470C80}"/>
              </a:ext>
            </a:extLst>
          </p:cNvPr>
          <p:cNvSpPr/>
          <p:nvPr/>
        </p:nvSpPr>
        <p:spPr>
          <a:xfrm>
            <a:off x="1549092" y="6013274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6F9AC95-0FA1-5A00-18E2-77645E2A2E26}"/>
              </a:ext>
            </a:extLst>
          </p:cNvPr>
          <p:cNvSpPr/>
          <p:nvPr/>
        </p:nvSpPr>
        <p:spPr>
          <a:xfrm>
            <a:off x="6997670" y="8096640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3C7C277-8357-BF62-ABB1-93B3F2E8D80F}"/>
              </a:ext>
            </a:extLst>
          </p:cNvPr>
          <p:cNvSpPr/>
          <p:nvPr/>
        </p:nvSpPr>
        <p:spPr>
          <a:xfrm>
            <a:off x="1559535" y="2107156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015BCFBD-225B-C320-2A35-C340A95CAE3A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377FBF24-4288-70B7-BC69-2ACE11E8AC1F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7CFCF9F4-6743-7E5A-2610-A19A628D5B31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9C338D59-C157-350D-6834-0C67D67F82AA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4</a:t>
            </a:r>
            <a:endParaRPr sz="1100" dirty="0"/>
          </a:p>
        </p:txBody>
      </p:sp>
      <p:sp>
        <p:nvSpPr>
          <p:cNvPr id="238" name="Google Shape;238;p13">
            <a:extLst>
              <a:ext uri="{FF2B5EF4-FFF2-40B4-BE49-F238E27FC236}">
                <a16:creationId xmlns:a16="http://schemas.microsoft.com/office/drawing/2014/main" id="{A62BDD1E-F651-EC4C-2215-23F95B889810}"/>
              </a:ext>
            </a:extLst>
          </p:cNvPr>
          <p:cNvSpPr txBox="1"/>
          <p:nvPr/>
        </p:nvSpPr>
        <p:spPr>
          <a:xfrm>
            <a:off x="8793950" y="13086785"/>
            <a:ext cx="115468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endParaRPr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D6CF6C-CB13-5927-54B3-B0D86B16CFCC}"/>
              </a:ext>
            </a:extLst>
          </p:cNvPr>
          <p:cNvSpPr txBox="1"/>
          <p:nvPr/>
        </p:nvSpPr>
        <p:spPr>
          <a:xfrm>
            <a:off x="1609016" y="2089167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highlight>
                  <a:srgbClr val="00FFFF"/>
                </a:highlight>
              </a:rPr>
              <a:t>mappings.rml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EB27C8-6401-9DA4-A34D-20A75D0CA92E}"/>
              </a:ext>
            </a:extLst>
          </p:cNvPr>
          <p:cNvSpPr txBox="1"/>
          <p:nvPr/>
        </p:nvSpPr>
        <p:spPr>
          <a:xfrm>
            <a:off x="1609017" y="6013274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2. 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mappings.yml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7AC290-36D5-953F-CD25-3E897C5C703B}"/>
              </a:ext>
            </a:extLst>
          </p:cNvPr>
          <p:cNvSpPr txBox="1"/>
          <p:nvPr/>
        </p:nvSpPr>
        <p:spPr>
          <a:xfrm>
            <a:off x="7053491" y="8096640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5. </a:t>
            </a:r>
            <a:r>
              <a:rPr lang="es-ES" sz="2400" dirty="0">
                <a:highlight>
                  <a:srgbClr val="00FFFF"/>
                </a:highlight>
              </a:rPr>
              <a:t>selfAssessmentHandsOn4.md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7C62522-0EBC-1A6A-4BBA-D70326F3D960}"/>
              </a:ext>
            </a:extLst>
          </p:cNvPr>
          <p:cNvCxnSpPr>
            <a:cxnSpLocks/>
          </p:cNvCxnSpPr>
          <p:nvPr/>
        </p:nvCxnSpPr>
        <p:spPr>
          <a:xfrm>
            <a:off x="9301300" y="2280238"/>
            <a:ext cx="0" cy="552804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D24CCF1-DD88-FD7A-6398-C365CF41C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091" y="2833773"/>
            <a:ext cx="775220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Triples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Reading.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genera URI con {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codi_eoi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} y añade nombre, código, latitud y longitud.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Reading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genera URI con {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codi_eoi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}/{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} y añade valores de O3, NO2, PM10 y calidad.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Join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Condition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relaciona cada lectura con su estación mediante 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ex:madeByStation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Fuente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CSV limpio /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csv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/2018-06-Juny-qualitat-aire_BCN_nouds.csv.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4AD6ED5-69FD-4253-BD16-CF951007B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180" y="6792616"/>
            <a:ext cx="748512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archivo .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 el estándar formal de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mientras que el archivo .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yml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 una versión simplificada para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morph-kgc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menos universal.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4D2723-AF40-BF3F-C22E-A2F48471BDD2}"/>
              </a:ext>
            </a:extLst>
          </p:cNvPr>
          <p:cNvSpPr txBox="1"/>
          <p:nvPr/>
        </p:nvSpPr>
        <p:spPr>
          <a:xfrm>
            <a:off x="9681295" y="2770427"/>
            <a:ext cx="75210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res.ttl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 el resultado final de haber convertido el CSV de calidad del aire en recursos RDF siguiendo </a:t>
            </a:r>
            <a:r>
              <a:rPr 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los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</a:t>
            </a:r>
            <a:endParaRPr lang="es-E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CD51D1A-6002-2D9D-7CDE-2CB1028EA26A}"/>
              </a:ext>
            </a:extLst>
          </p:cNvPr>
          <p:cNvSpPr txBox="1"/>
          <p:nvPr/>
        </p:nvSpPr>
        <p:spPr>
          <a:xfrm>
            <a:off x="9774057" y="2054788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 err="1">
                <a:highlight>
                  <a:srgbClr val="00FFFF"/>
                </a:highlight>
              </a:rPr>
              <a:t>res.ttl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9F9F267-2939-A0D4-A2CA-6A86648B68BC}"/>
              </a:ext>
            </a:extLst>
          </p:cNvPr>
          <p:cNvSpPr txBox="1"/>
          <p:nvPr/>
        </p:nvSpPr>
        <p:spPr>
          <a:xfrm>
            <a:off x="9774056" y="4135834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4. </a:t>
            </a:r>
            <a:r>
              <a:rPr lang="es-ES" sz="2400" dirty="0" err="1">
                <a:highlight>
                  <a:srgbClr val="00FFFF"/>
                </a:highlight>
              </a:rPr>
              <a:t>queries.spaqrl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40C267CF-1C36-2535-7A4C-09FCB9E7E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1295" y="4864790"/>
            <a:ext cx="787469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onsultas SPARQL diseñadas para 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verificar que los datos RDF generados son correctos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y que: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 estaciones existen y tienen etiquetas,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 lecturas están correctamente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tipadas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los valores numéricos se han transformado bien,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enlace entre lectura </a:t>
            </a:r>
            <a:r>
              <a:rPr lang="es-ES" altLang="es-E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&lt;-&gt;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estación funciona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508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5BFB86C-29D2-3C8F-383E-581BC1CF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28D3E3CF-3A87-D3AE-A6E9-6DC8F994A887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9AA45927-F9A5-039B-7D0C-7EF01C68E17C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DD3B4FFC-97C3-C0CF-0E5C-C9ED72D648C9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12B29F9F-7FC0-9AE4-2113-08837251291E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4</a:t>
            </a:r>
            <a:endParaRPr sz="1100" dirty="0"/>
          </a:p>
        </p:txBody>
      </p:sp>
      <p:sp>
        <p:nvSpPr>
          <p:cNvPr id="238" name="Google Shape;238;p13">
            <a:extLst>
              <a:ext uri="{FF2B5EF4-FFF2-40B4-BE49-F238E27FC236}">
                <a16:creationId xmlns:a16="http://schemas.microsoft.com/office/drawing/2014/main" id="{8DC62FE3-A6AF-5F5B-A0B4-E887A8136186}"/>
              </a:ext>
            </a:extLst>
          </p:cNvPr>
          <p:cNvSpPr txBox="1"/>
          <p:nvPr/>
        </p:nvSpPr>
        <p:spPr>
          <a:xfrm>
            <a:off x="8793950" y="13086785"/>
            <a:ext cx="115468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endParaRPr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CC2592-7744-CD13-D4E9-6385A0F40A21}"/>
              </a:ext>
            </a:extLst>
          </p:cNvPr>
          <p:cNvSpPr txBox="1"/>
          <p:nvPr/>
        </p:nvSpPr>
        <p:spPr>
          <a:xfrm>
            <a:off x="2058479" y="2407644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highlight>
                  <a:srgbClr val="00FFFF"/>
                </a:highlight>
              </a:rPr>
              <a:t>mappings.rml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934BA13-0787-4D02-F16F-E924897BCB60}"/>
              </a:ext>
            </a:extLst>
          </p:cNvPr>
          <p:cNvCxnSpPr>
            <a:cxnSpLocks/>
          </p:cNvCxnSpPr>
          <p:nvPr/>
        </p:nvCxnSpPr>
        <p:spPr>
          <a:xfrm>
            <a:off x="6381316" y="2673916"/>
            <a:ext cx="0" cy="552804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B8DC2FF-4707-2511-6CA5-4E96E8EDF979}"/>
              </a:ext>
            </a:extLst>
          </p:cNvPr>
          <p:cNvSpPr txBox="1"/>
          <p:nvPr/>
        </p:nvSpPr>
        <p:spPr>
          <a:xfrm>
            <a:off x="8859268" y="2381528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highlight>
                  <a:srgbClr val="00FFFF"/>
                </a:highlight>
              </a:rPr>
              <a:t>res.ttl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3AA9E1D-61E3-B714-46D3-2813E7EE6406}"/>
              </a:ext>
            </a:extLst>
          </p:cNvPr>
          <p:cNvCxnSpPr>
            <a:cxnSpLocks/>
          </p:cNvCxnSpPr>
          <p:nvPr/>
        </p:nvCxnSpPr>
        <p:spPr>
          <a:xfrm>
            <a:off x="12603355" y="2679633"/>
            <a:ext cx="0" cy="552804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B9FD7B-7B77-002E-7E27-F7F7BB9308B9}"/>
              </a:ext>
            </a:extLst>
          </p:cNvPr>
          <p:cNvSpPr txBox="1"/>
          <p:nvPr/>
        </p:nvSpPr>
        <p:spPr>
          <a:xfrm>
            <a:off x="14692897" y="2560968"/>
            <a:ext cx="4955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>
                <a:highlight>
                  <a:srgbClr val="00FFFF"/>
                </a:highlight>
              </a:rPr>
              <a:t>queries.spaqrl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6" name="Imagen 1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C4AB654-7EB2-7561-3504-E0FF6477B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846" y="3590391"/>
            <a:ext cx="4676601" cy="3136979"/>
          </a:xfrm>
          <a:prstGeom prst="rect">
            <a:avLst/>
          </a:prstGeom>
        </p:spPr>
      </p:pic>
      <p:pic>
        <p:nvPicPr>
          <p:cNvPr id="19" name="Imagen 18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F4FA3B6-3491-828D-970E-9EAA1FC39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919" y="3234529"/>
            <a:ext cx="5523460" cy="3819413"/>
          </a:xfrm>
          <a:prstGeom prst="rect">
            <a:avLst/>
          </a:prstGeom>
        </p:spPr>
      </p:pic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6843A5A0-2675-B286-13BB-DA99456AD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53" y="3275020"/>
            <a:ext cx="5607355" cy="460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9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8789EC88-FDE9-31A3-946F-46E617CE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>
            <a:extLst>
              <a:ext uri="{FF2B5EF4-FFF2-40B4-BE49-F238E27FC236}">
                <a16:creationId xmlns:a16="http://schemas.microsoft.com/office/drawing/2014/main" id="{6140291F-018F-D690-CD78-F2216C140753}"/>
              </a:ext>
            </a:extLst>
          </p:cNvPr>
          <p:cNvSpPr/>
          <p:nvPr/>
        </p:nvSpPr>
        <p:spPr>
          <a:xfrm>
            <a:off x="9774057" y="5386571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6F9FD8F-6052-05DE-D415-BF080942BF37}"/>
              </a:ext>
            </a:extLst>
          </p:cNvPr>
          <p:cNvSpPr/>
          <p:nvPr/>
        </p:nvSpPr>
        <p:spPr>
          <a:xfrm>
            <a:off x="9681297" y="208311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D5CF870-6011-485E-BFD6-A6C6AF93671D}"/>
              </a:ext>
            </a:extLst>
          </p:cNvPr>
          <p:cNvSpPr/>
          <p:nvPr/>
        </p:nvSpPr>
        <p:spPr>
          <a:xfrm>
            <a:off x="1609018" y="485111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B33AD0D-F671-CD52-B664-E80079DCAB2A}"/>
              </a:ext>
            </a:extLst>
          </p:cNvPr>
          <p:cNvSpPr/>
          <p:nvPr/>
        </p:nvSpPr>
        <p:spPr>
          <a:xfrm>
            <a:off x="1559535" y="2107156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69DC9117-9E21-B5E8-1B2F-7AA04B60B81C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7DEC6E89-6619-46D0-DAA7-8897D4059B31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539A11D8-44CC-7C28-1312-F497D07D02DB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1CE6F910-1154-042B-34C7-E22353DC1B44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5</a:t>
            </a:r>
            <a:endParaRPr sz="11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20A3ED-F1A2-9284-FE49-992CDAA7BF92}"/>
              </a:ext>
            </a:extLst>
          </p:cNvPr>
          <p:cNvSpPr txBox="1"/>
          <p:nvPr/>
        </p:nvSpPr>
        <p:spPr>
          <a:xfrm>
            <a:off x="1559535" y="2107155"/>
            <a:ext cx="6457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</a:rPr>
              <a:t>openrefine-with-links.json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21B5ECC-525D-9099-4C69-C2D2255E2BBB}"/>
              </a:ext>
            </a:extLst>
          </p:cNvPr>
          <p:cNvCxnSpPr>
            <a:cxnSpLocks/>
          </p:cNvCxnSpPr>
          <p:nvPr/>
        </p:nvCxnSpPr>
        <p:spPr>
          <a:xfrm>
            <a:off x="9301300" y="2280238"/>
            <a:ext cx="0" cy="552804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EA12710-1AE5-FA2A-B5EA-31B12E3DB99B}"/>
              </a:ext>
            </a:extLst>
          </p:cNvPr>
          <p:cNvSpPr txBox="1"/>
          <p:nvPr/>
        </p:nvSpPr>
        <p:spPr>
          <a:xfrm>
            <a:off x="9774057" y="2054788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</a:rPr>
              <a:t>mappings-with-links.rml</a:t>
            </a:r>
            <a:r>
              <a:rPr lang="es-ES" sz="2400" dirty="0">
                <a:solidFill>
                  <a:schemeClr val="tx1"/>
                </a:solidFill>
                <a:highlight>
                  <a:srgbClr val="00FFFF"/>
                </a:highlight>
              </a:rPr>
              <a:t> 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71964E-7E70-D951-6DFE-83D3D22BA6E4}"/>
              </a:ext>
            </a:extLst>
          </p:cNvPr>
          <p:cNvSpPr txBox="1"/>
          <p:nvPr/>
        </p:nvSpPr>
        <p:spPr>
          <a:xfrm>
            <a:off x="9787667" y="5346759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4. </a:t>
            </a:r>
            <a:r>
              <a:rPr lang="es-ES" sz="2400" dirty="0">
                <a:solidFill>
                  <a:schemeClr val="tx1"/>
                </a:solidFill>
                <a:highlight>
                  <a:srgbClr val="00FFFF"/>
                </a:highlight>
              </a:rPr>
              <a:t>res-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</a:rPr>
              <a:t>with</a:t>
            </a:r>
            <a:r>
              <a:rPr lang="es-ES" sz="2400" dirty="0">
                <a:solidFill>
                  <a:schemeClr val="tx1"/>
                </a:solidFill>
                <a:highlight>
                  <a:srgbClr val="00FFFF"/>
                </a:highlight>
              </a:rPr>
              <a:t>-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</a:rPr>
              <a:t>links.ttl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56AD769-8A15-8AC1-1529-387F2C28D8D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09024" y="2739480"/>
            <a:ext cx="753497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99000"/>
              <a:buFont typeface="Wingdings" pitchFamily="2" charset="2"/>
              <a:buChar char="§"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Uso de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Wikidata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Reconciliation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99000"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 reconciliación automática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 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99000"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 validaciones manuales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 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judge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-similar-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cells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FDFF24E-A1DB-4EEE-CA0C-227AC7155D4C}"/>
              </a:ext>
            </a:extLst>
          </p:cNvPr>
          <p:cNvSpPr txBox="1"/>
          <p:nvPr/>
        </p:nvSpPr>
        <p:spPr>
          <a:xfrm>
            <a:off x="1650160" y="4857354"/>
            <a:ext cx="7534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2. </a:t>
            </a:r>
            <a:r>
              <a:rPr lang="es-ES" sz="2200" dirty="0">
                <a:solidFill>
                  <a:schemeClr val="tx1"/>
                </a:solidFill>
                <a:highlight>
                  <a:srgbClr val="00FFFF"/>
                </a:highlight>
              </a:rPr>
              <a:t>2018-06-Juny-qualitat-aire-BCN-updated-with-links.csv</a:t>
            </a:r>
            <a:endParaRPr lang="es-ES" sz="22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9E69050-B7A8-E386-1830-C44277BD3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6140" y="5594419"/>
            <a:ext cx="724615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ersión final del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lista para RDF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Data,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 incluye: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 originales del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calidad del aire</a:t>
            </a: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 externos obtenidos mediante reconciliación con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Wikidata</a:t>
            </a: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Identificación de cada estación mediante su QID</a:t>
            </a: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Enriquecimiento semántico del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29DA1E0-FF71-338F-C440-6F7256573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7667" y="2755674"/>
            <a:ext cx="72359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nuevos datos obtenidos en la reconciliación con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Wikidata</a:t>
            </a:r>
            <a:endParaRPr kumimoji="0" lang="es-ES" altLang="es-E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 nueva estructura del CSV enriquecido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linking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entre estaciones y lecturas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timestamp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convertido desde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epoch</a:t>
            </a: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tipos adecuados por cada atributo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DF44CBFD-5C8A-BD62-F7D2-CE890B071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7667" y="6026016"/>
            <a:ext cx="796564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Este archivo es el resultado final de la transformación RML después de: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limpiar los datos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reconciliarlos con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Wikidata</a:t>
            </a:r>
            <a:endParaRPr kumimoji="0" lang="es-ES" altLang="es-E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actualizar el CSV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actualizar los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RML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generar RDF enlazado (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31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2C02F06-2301-5366-AF8F-4C9FBDBC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7B7EB999-3B05-91F6-C3FC-ED3B0B77BAFA}"/>
              </a:ext>
            </a:extLst>
          </p:cNvPr>
          <p:cNvSpPr/>
          <p:nvPr/>
        </p:nvSpPr>
        <p:spPr>
          <a:xfrm>
            <a:off x="6248857" y="2830283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06DCA807-9B19-B038-5229-39C827799BA9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ABDFEDCB-A78F-F015-3074-0107B13418F5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BFA1AE23-3657-91C0-031C-716294DB059A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756FDE5D-D508-00E8-85D4-25AF69AD7C66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5</a:t>
            </a:r>
            <a:endParaRPr sz="11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841BC6-AC4C-97FC-0740-1C1251AA2DBD}"/>
              </a:ext>
            </a:extLst>
          </p:cNvPr>
          <p:cNvSpPr txBox="1"/>
          <p:nvPr/>
        </p:nvSpPr>
        <p:spPr>
          <a:xfrm>
            <a:off x="6248857" y="2830283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5. </a:t>
            </a:r>
            <a:r>
              <a:rPr lang="es-ES" sz="3200" b="1" dirty="0" err="1">
                <a:solidFill>
                  <a:schemeClr val="tx1"/>
                </a:solidFill>
                <a:highlight>
                  <a:srgbClr val="00FFFF"/>
                </a:highlight>
              </a:rPr>
              <a:t>queries-with-links.spaqrl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CD1903-B817-F153-700B-6C688D5AC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018" y="4381702"/>
            <a:ext cx="728003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Incluye consultas para: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Verificar estaciones reconciliadas y su información geográfica.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Comprobar lecturas con su fecha, calidad y contaminantes.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Validar el enlace 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ex:madeByStation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entre lecturas y estaciones.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Detectar lecturas sin estación (errores).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Analizar contaminantes O₃, NO₂ y PM10.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Obtener estadísticas del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enlazado.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142EB1EA-38E1-2F27-7493-A119A081B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099" y="3940419"/>
            <a:ext cx="6114870" cy="491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30"/>
          <p:cNvGrpSpPr/>
          <p:nvPr/>
        </p:nvGrpSpPr>
        <p:grpSpPr>
          <a:xfrm>
            <a:off x="5236690" y="1794703"/>
            <a:ext cx="7712843" cy="893596"/>
            <a:chOff x="0" y="-47625"/>
            <a:chExt cx="1921677" cy="222642"/>
          </a:xfrm>
        </p:grpSpPr>
        <p:sp>
          <p:nvSpPr>
            <p:cNvPr id="610" name="Google Shape;610;p30"/>
            <p:cNvSpPr/>
            <p:nvPr/>
          </p:nvSpPr>
          <p:spPr>
            <a:xfrm>
              <a:off x="0" y="0"/>
              <a:ext cx="1921677" cy="175017"/>
            </a:xfrm>
            <a:custGeom>
              <a:avLst/>
              <a:gdLst/>
              <a:ahLst/>
              <a:cxnLst/>
              <a:rect l="l" t="t" r="r" b="b"/>
              <a:pathLst>
                <a:path w="1921677" h="175017" extrusionOk="0">
                  <a:moveTo>
                    <a:pt x="51192" y="0"/>
                  </a:moveTo>
                  <a:lnTo>
                    <a:pt x="1870485" y="0"/>
                  </a:lnTo>
                  <a:cubicBezTo>
                    <a:pt x="1884062" y="0"/>
                    <a:pt x="1897082" y="5393"/>
                    <a:pt x="1906683" y="14994"/>
                  </a:cubicBezTo>
                  <a:cubicBezTo>
                    <a:pt x="1916283" y="24594"/>
                    <a:pt x="1921677" y="37615"/>
                    <a:pt x="1921677" y="51192"/>
                  </a:cubicBezTo>
                  <a:lnTo>
                    <a:pt x="1921677" y="123825"/>
                  </a:lnTo>
                  <a:cubicBezTo>
                    <a:pt x="1921677" y="152098"/>
                    <a:pt x="1898757" y="175017"/>
                    <a:pt x="1870485" y="175017"/>
                  </a:cubicBezTo>
                  <a:lnTo>
                    <a:pt x="51192" y="175017"/>
                  </a:lnTo>
                  <a:cubicBezTo>
                    <a:pt x="37615" y="175017"/>
                    <a:pt x="24594" y="169624"/>
                    <a:pt x="14994" y="160023"/>
                  </a:cubicBezTo>
                  <a:cubicBezTo>
                    <a:pt x="5393" y="150423"/>
                    <a:pt x="0" y="137402"/>
                    <a:pt x="0" y="123825"/>
                  </a:cubicBezTo>
                  <a:lnTo>
                    <a:pt x="0" y="51192"/>
                  </a:lnTo>
                  <a:cubicBezTo>
                    <a:pt x="0" y="37615"/>
                    <a:pt x="5393" y="24594"/>
                    <a:pt x="14994" y="14994"/>
                  </a:cubicBezTo>
                  <a:cubicBezTo>
                    <a:pt x="24594" y="5393"/>
                    <a:pt x="37615" y="0"/>
                    <a:pt x="51192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0"/>
            <p:cNvSpPr txBox="1"/>
            <p:nvPr/>
          </p:nvSpPr>
          <p:spPr>
            <a:xfrm>
              <a:off x="0" y="-47625"/>
              <a:ext cx="1921677" cy="222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2" name="Google Shape;612;p30"/>
          <p:cNvSpPr txBox="1"/>
          <p:nvPr/>
        </p:nvSpPr>
        <p:spPr>
          <a:xfrm>
            <a:off x="5325182" y="1312752"/>
            <a:ext cx="7726200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latin typeface="Open Sans"/>
                <a:ea typeface="Open Sans"/>
                <a:cs typeface="Open Sans"/>
                <a:sym typeface="Open Sans"/>
              </a:rPr>
              <a:t>¡ Muchas gracias!</a:t>
            </a:r>
            <a:endParaRPr dirty="0"/>
          </a:p>
        </p:txBody>
      </p:sp>
      <p:pic>
        <p:nvPicPr>
          <p:cNvPr id="616" name="Google Shape;6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39301" y="278773"/>
            <a:ext cx="3625475" cy="3929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84525" y="6828250"/>
            <a:ext cx="3860400" cy="283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9C7682-E3A5-47DD-1BFE-5E0C34AE8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2407" y="3675405"/>
            <a:ext cx="10312118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54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Members</a:t>
            </a:r>
            <a:r>
              <a:rPr kumimoji="0" lang="es-ES" altLang="es-ES" sz="54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54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</a:t>
            </a:r>
            <a:r>
              <a:rPr kumimoji="0" lang="es-ES" altLang="es-ES" sz="54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54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</a:t>
            </a:r>
            <a:r>
              <a:rPr kumimoji="0" lang="es-ES" altLang="es-ES" sz="54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54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group</a:t>
            </a:r>
            <a:endParaRPr kumimoji="0" lang="es-ES" altLang="es-ES" sz="54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Name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GitHub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Isabel Juárez Montalbán;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isabel-jmontalban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Félix García Taboada; Fenix1117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Shengye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Huang Wu; OscarHd13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Alberto Buceta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Coroba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BuceGithub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Mohammad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Tayem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Abo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Hadwa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Eltiradoor</a:t>
            </a:r>
            <a:endParaRPr kumimoji="0" lang="es-ES" altLang="es-E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site Pitch Deck">
  <a:themeElements>
    <a:clrScheme name="Office">
      <a:dk1>
        <a:srgbClr val="000000"/>
      </a:dk1>
      <a:lt1>
        <a:srgbClr val="FFFFFF"/>
      </a:lt1>
      <a:dk2>
        <a:srgbClr val="642282"/>
      </a:dk2>
      <a:lt2>
        <a:srgbClr val="B2E0F1"/>
      </a:lt2>
      <a:accent1>
        <a:srgbClr val="FFC803"/>
      </a:accent1>
      <a:accent2>
        <a:srgbClr val="888888"/>
      </a:accent2>
      <a:accent3>
        <a:srgbClr val="FFFFFF"/>
      </a:accent3>
      <a:accent4>
        <a:srgbClr val="642282"/>
      </a:accent4>
      <a:accent5>
        <a:srgbClr val="B2E0F1"/>
      </a:accent5>
      <a:accent6>
        <a:srgbClr val="FFC803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4178</TotalTime>
  <Words>1144</Words>
  <Application>Microsoft Macintosh PowerPoint</Application>
  <PresentationFormat>Personalizado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Open Sans</vt:lpstr>
      <vt:lpstr>Arial Unicode MS</vt:lpstr>
      <vt:lpstr>Wingdings</vt:lpstr>
      <vt:lpstr>-webkit-standard</vt:lpstr>
      <vt:lpstr>Website Pitch Deck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Isabel Juarez Montalban</cp:lastModifiedBy>
  <cp:revision>9</cp:revision>
  <dcterms:modified xsi:type="dcterms:W3CDTF">2025-11-17T17:16:40Z</dcterms:modified>
</cp:coreProperties>
</file>