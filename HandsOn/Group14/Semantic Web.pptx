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Old Standard TT"/>
      <p:regular r:id="rId16"/>
      <p:bold r:id="rId17"/>
      <p: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bold.fntdata"/><Relationship Id="rId16" Type="http://schemas.openxmlformats.org/officeDocument/2006/relationships/font" Target="fonts/OldStandardT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ldStandardT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37a11638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37a11638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0de0830e5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0de0830e5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3b9fa1b6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3b9fa1b6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0e12493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0e12493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37a11638b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37a11638b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0de0830e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0de0830e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37a11638b_8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37a11638b_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3b9fa1b6c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3b9fa1b6c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37a11638b_4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37a11638b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atos.madrid.es/egob/catalogo/212531-10515086-calidad-aire-tiempo-real.csv" TargetMode="External"/><Relationship Id="rId4" Type="http://schemas.openxmlformats.org/officeDocument/2006/relationships/hyperlink" Target="https://datos.madrid.es/egob/catalogo/212629-1-estaciones-control-aire.csv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784250"/>
            <a:ext cx="8118600" cy="7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Semantic Web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138000"/>
            <a:ext cx="2137800" cy="15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14</a:t>
            </a:r>
            <a:endParaRPr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2363875" y="2886325"/>
            <a:ext cx="6267300" cy="18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Diego Armenteros Riaza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Hugo Barba González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Alberto González López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Sergio Vicente Ruiz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Juan Loscos Ortega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DATASET ESCOGIDO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870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Calidad del aire. Datos en tiempo real: </a:t>
            </a:r>
            <a:r>
              <a:rPr lang="es" sz="1400" u="sng">
                <a:solidFill>
                  <a:schemeClr val="hlink"/>
                </a:solidFill>
                <a:hlinkClick r:id="rId3"/>
              </a:rPr>
              <a:t>https://datos.madrid.es/egob/catalogo/212531-10515086-calidad-aire-tiempo-real.csv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Calidad del aire. Estaciones de control: </a:t>
            </a:r>
            <a:r>
              <a:rPr lang="es" sz="14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https://datos.madrid.es/egob/catalogo/212629-1-estaciones-control-aire.csv</a:t>
            </a:r>
            <a:r>
              <a:rPr lang="es" sz="1400"/>
              <a:t>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 </a:t>
            </a:r>
            <a:br>
              <a:rPr lang="es"/>
            </a:br>
            <a:r>
              <a:rPr lang="es"/>
              <a:t>Requisitos - Se cumplen todos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R1. Data are in one of the selected smart city domains.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R2. Data are available as a CSV file.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R3. Data have an open license so they can be published.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R4. Data can be easily linked with generic real-world entities (e.g., locations).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R5. Documentation exists for the data (optional).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R6. Data can come from multiple data sources (optional).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388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DATASET (CAL-AIR)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50" y="961350"/>
            <a:ext cx="5210100" cy="399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388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DATASET (INFO)</a:t>
            </a:r>
            <a:endParaRPr/>
          </a:p>
        </p:txBody>
      </p:sp>
      <p:pic>
        <p:nvPicPr>
          <p:cNvPr id="79" name="Google Shape;79;p16" title="imagen_2025-11-16_134717824.png"/>
          <p:cNvPicPr preferRelativeResize="0"/>
          <p:nvPr/>
        </p:nvPicPr>
        <p:blipFill rotWithShape="1">
          <a:blip r:embed="rId3">
            <a:alphaModFix/>
          </a:blip>
          <a:srcRect b="0" l="347" r="337" t="0"/>
          <a:stretch/>
        </p:blipFill>
        <p:spPr>
          <a:xfrm>
            <a:off x="1009650" y="1193225"/>
            <a:ext cx="7124701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DE LOS DATOS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247425"/>
            <a:ext cx="72580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2438" y="2234675"/>
            <a:ext cx="6185374" cy="237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200" y="2311625"/>
            <a:ext cx="1278301" cy="2302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7"/>
          <p:cNvCxnSpPr/>
          <p:nvPr/>
        </p:nvCxnSpPr>
        <p:spPr>
          <a:xfrm>
            <a:off x="1751300" y="2678450"/>
            <a:ext cx="816900" cy="37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7"/>
          <p:cNvCxnSpPr/>
          <p:nvPr/>
        </p:nvCxnSpPr>
        <p:spPr>
          <a:xfrm>
            <a:off x="1751300" y="2685800"/>
            <a:ext cx="802200" cy="49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7"/>
          <p:cNvCxnSpPr/>
          <p:nvPr/>
        </p:nvCxnSpPr>
        <p:spPr>
          <a:xfrm>
            <a:off x="1751300" y="2678450"/>
            <a:ext cx="802200" cy="8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DEPURANDO DATASET USANDO OPENREFINE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Unificación de csv’s “informacion_estaciones_red_calidad_aire.csv” y “calair-tiemporeal.csv” (</a:t>
            </a:r>
            <a:r>
              <a:rPr lang="es"/>
              <a:t>CODIGO_CORTO asociado a la ESTACION de medición</a:t>
            </a:r>
            <a:r>
              <a:rPr lang="es"/>
              <a:t>)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Cambios de valores X y Null en las magnitudes por 1 y 0 para eliminación de espacios en estaciones con medición no realizadas.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Incorporación de datos de estaciones a .csv definitivo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Nombre estación, dirección, coordenadas, magnitudes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Enriquecimiento de los datos con Wikidata   por estación de medición con datos de estación y ubicación geográfica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Exportar datos “limpios” .csv para generación de la relación entre clases y propiedades (.RML)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5950" y="3013050"/>
            <a:ext cx="1836000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2167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76942"/>
            <a:ext cx="8839198" cy="151139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353475" y="1957125"/>
            <a:ext cx="277500" cy="515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9188" y="3700700"/>
            <a:ext cx="6886575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152400" y="4332913"/>
            <a:ext cx="2074800" cy="38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Resto de mediciones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1114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MAPPINGS RML Y RDF</a:t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 rotWithShape="1">
          <a:blip r:embed="rId3">
            <a:alphaModFix/>
          </a:blip>
          <a:srcRect b="0" l="2884" r="0" t="25322"/>
          <a:stretch/>
        </p:blipFill>
        <p:spPr>
          <a:xfrm>
            <a:off x="279625" y="986025"/>
            <a:ext cx="5051574" cy="263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 rotWithShape="1">
          <a:blip r:embed="rId4">
            <a:alphaModFix/>
          </a:blip>
          <a:srcRect b="0" l="35233" r="0" t="0"/>
          <a:stretch/>
        </p:blipFill>
        <p:spPr>
          <a:xfrm>
            <a:off x="4281500" y="3216200"/>
            <a:ext cx="4582500" cy="176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 rot="5400000">
            <a:off x="5325025" y="1905975"/>
            <a:ext cx="1062000" cy="14889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5111450" y="2065075"/>
            <a:ext cx="15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RMLMapper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248425"/>
            <a:ext cx="8520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VALIDAR GRAFO DE CONOCIMIENTO USANDO GRAPHDB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439225"/>
            <a:ext cx="8520600" cy="31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75" y="1403825"/>
            <a:ext cx="3986350" cy="3200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/>
        </p:nvSpPr>
        <p:spPr>
          <a:xfrm>
            <a:off x="1581775" y="3524325"/>
            <a:ext cx="1847100" cy="699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5986" y="1403825"/>
            <a:ext cx="4496441" cy="32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/>
          <p:nvPr/>
        </p:nvSpPr>
        <p:spPr>
          <a:xfrm>
            <a:off x="4004165" y="3768350"/>
            <a:ext cx="453300" cy="38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BIBLIOGRAFÍA</a:t>
            </a:r>
            <a:r>
              <a:rPr lang="es"/>
              <a:t> Y HERRAMIENTAS</a:t>
            </a:r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50" y="1798045"/>
            <a:ext cx="2510150" cy="14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0725" y="2077450"/>
            <a:ext cx="3927925" cy="8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9725" y="1824288"/>
            <a:ext cx="1539775" cy="149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2630550" y="3760100"/>
            <a:ext cx="388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Herramientas: VSCode, RMLMapper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